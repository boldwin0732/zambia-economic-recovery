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
                </c:pt>
              </c:strCache>
            </c:strRef>
          </c:tx>
          <c:spPr>
            <a:solidFill>
              <a:srgbClr val="E88C00"/>
            </a:solidFill>
            <a:ln>
              <a:solidFill>
                <a:srgbClr val="E88C00"/>
              </a:solidFill>
            </a:ln>
          </c:spPr>
          <c:dPt>
            <c:idx val="4"/>
            <c:spPr>
              <a:solidFill>
                <a:srgbClr val="E74C3C"/>
              </a:solidFill>
            </c:spPr>
          </c:dPt>
          <c:dPt>
            <c:idx val="5"/>
            <c:spPr>
              <a:solidFill>
                <a:srgbClr val="E74C3C"/>
              </a:solidFill>
            </c:spPr>
          </c:dPt>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12.3</c:v>
                </c:pt>
                <c:pt idx="1">
                  <c:v>14.0</c:v>
                </c:pt>
                <c:pt idx="2">
                  <c:v>17.5</c:v>
                </c:pt>
                <c:pt idx="3">
                  <c:v>22.4</c:v>
                </c:pt>
                <c:pt idx="4">
                  <c:v>29.1</c:v>
                </c:pt>
                <c:pt idx="5">
                  <c:v>31.5</c:v>
                </c:pt>
                <c:pt idx="6">
                  <c:v>29.8</c:v>
                </c:pt>
                <c:pt idx="7">
                  <c:v>26.4</c:v>
                </c:pt>
                <c:pt idx="8">
                  <c:v>22.7</c:v>
                </c:pt>
                <c:pt idx="9">
                  <c:v>18.9</c:v>
                </c:pt>
              </c:numCache>
            </c:numRef>
          </c:val>
        </c:ser>
        <c:gapWidth val="80"/>
        <c:axId val="-2068027336"/>
        <c:axId val="-2113994440"/>
      </c:barChart>
      <c:catAx>
        <c:axId val="-2068027336"/>
        <c:scaling>
          <c:orientation val="minMax"/>
        </c:scaling>
        <c:delete val="0"/>
        <c:axPos val="b"/>
        <c:majorTickMark val="out"/>
        <c:minorTickMark val="none"/>
        <c:tickLblPos val="nextTo"/>
        <c:txPr>
          <a:bodyPr/>
          <a:lstStyle/>
          <a:p>
            <a:pPr>
              <a:defRPr sz="700">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7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
                </c:pt>
              </c:strCache>
            </c:strRef>
          </c:tx>
          <c:spPr>
            <a:solidFill>
              <a:srgbClr val="2ECC71"/>
            </a:solidFill>
            <a:ln>
              <a:solidFill>
                <a:srgbClr val="2ECC71"/>
              </a:solidFill>
            </a:ln>
          </c:spPr>
          <c:dPt>
            <c:idx val="0"/>
            <c:spPr>
              <a:solidFill>
                <a:srgbClr val="E74C3C"/>
              </a:solidFill>
            </c:spPr>
          </c:dPt>
          <c:dPt>
            <c:idx val="1"/>
            <c:spPr>
              <a:solidFill>
                <a:srgbClr val="E74C3C"/>
              </a:solidFill>
            </c:spPr>
          </c:dPt>
          <c:dPt>
            <c:idx val="2"/>
            <c:spPr>
              <a:solidFill>
                <a:srgbClr val="E74C3C"/>
              </a:solidFill>
            </c:spPr>
          </c:dPt>
          <c:dPt>
            <c:idx val="3"/>
            <c:spPr>
              <a:solidFill>
                <a:srgbClr val="E74C3C"/>
              </a:solidFill>
            </c:spPr>
          </c:dPt>
          <c:dPt>
            <c:idx val="4"/>
            <c:spPr>
              <a:solidFill>
                <a:srgbClr val="E74C3C"/>
              </a:solidFill>
            </c:spPr>
          </c:dPt>
          <c:dPt>
            <c:idx val="6"/>
            <c:spPr>
              <a:solidFill>
                <a:srgbClr val="2ECC71"/>
              </a:solidFill>
            </c:spPr>
          </c:dPt>
          <c:dPt>
            <c:idx val="7"/>
            <c:spPr>
              <a:solidFill>
                <a:srgbClr val="2ECC71"/>
              </a:solidFill>
            </c:spPr>
          </c:dPt>
          <c:dPt>
            <c:idx val="8"/>
            <c:spPr>
              <a:solidFill>
                <a:srgbClr val="2ECC71"/>
              </a:solidFill>
            </c:spPr>
          </c:dPt>
          <c:dPt>
            <c:idx val="9"/>
            <c:spPr>
              <a:solidFill>
                <a:srgbClr val="2ECC71"/>
              </a:solidFill>
            </c:spPr>
          </c:dPt>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-3.6</c:v>
                </c:pt>
                <c:pt idx="1">
                  <c:v>-4.1</c:v>
                </c:pt>
                <c:pt idx="2">
                  <c:v>-1.9</c:v>
                </c:pt>
                <c:pt idx="3">
                  <c:v>-1.7</c:v>
                </c:pt>
                <c:pt idx="4">
                  <c:v>-1.5</c:v>
                </c:pt>
                <c:pt idx="5">
                  <c:v>2.9</c:v>
                </c:pt>
                <c:pt idx="6">
                  <c:v>11.9</c:v>
                </c:pt>
                <c:pt idx="7">
                  <c:v>4.7</c:v>
                </c:pt>
                <c:pt idx="8">
                  <c:v>3.1</c:v>
                </c:pt>
                <c:pt idx="9">
                  <c:v>2.0</c:v>
                </c:pt>
              </c:numCache>
            </c:numRef>
          </c:val>
        </c:ser>
        <c:gapWidth val="80"/>
        <c:axId val="-2068027336"/>
        <c:axId val="-2113994440"/>
      </c:barChart>
      <c:catAx>
        <c:axId val="-2068027336"/>
        <c:scaling>
          <c:orientation val="minMax"/>
        </c:scaling>
        <c:delete val="0"/>
        <c:axPos val="b"/>
        <c:majorTickMark val="out"/>
        <c:minorTickMark val="none"/>
        <c:tickLblPos val="nextTo"/>
        <c:txPr>
          <a:bodyPr/>
          <a:lstStyle/>
          <a:p>
            <a:pPr>
              <a:defRPr sz="700">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7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
                </c:pt>
              </c:strCache>
            </c:strRef>
          </c:tx>
          <c:spPr>
            <a:solidFill>
              <a:srgbClr val="E88C00"/>
            </a:solidFill>
            <a:ln>
              <a:solidFill>
                <a:srgbClr val="E88C00"/>
              </a:solidFill>
            </a:ln>
          </c:spPr>
          <c:dPt>
            <c:idx val="4"/>
            <c:spPr>
              <a:solidFill>
                <a:srgbClr val="FFA500"/>
              </a:solidFill>
            </c:spPr>
          </c:dPt>
          <c:dPt>
            <c:idx val="5"/>
            <c:spPr>
              <a:solidFill>
                <a:srgbClr val="E74C3C"/>
              </a:solidFill>
            </c:spPr>
          </c:dPt>
          <c:dPt>
            <c:idx val="6"/>
            <c:spPr>
              <a:solidFill>
                <a:srgbClr val="2ECC71"/>
              </a:solidFill>
            </c:spPr>
          </c:dPt>
          <c:dPt>
            <c:idx val="7"/>
            <c:spPr>
              <a:solidFill>
                <a:srgbClr val="2ECC71"/>
              </a:solidFill>
            </c:spPr>
          </c:dPt>
          <c:dPt>
            <c:idx val="8"/>
            <c:spPr>
              <a:solidFill>
                <a:srgbClr val="2ECC71"/>
              </a:solidFill>
            </c:spPr>
          </c:dPt>
          <c:dPt>
            <c:idx val="9"/>
            <c:spPr>
              <a:solidFill>
                <a:srgbClr val="2ECC71"/>
              </a:solidFill>
            </c:spPr>
          </c:dPt>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2.9</c:v>
                </c:pt>
                <c:pt idx="1">
                  <c:v>3.8</c:v>
                </c:pt>
                <c:pt idx="2">
                  <c:v>3.5</c:v>
                </c:pt>
                <c:pt idx="3">
                  <c:v>4.0</c:v>
                </c:pt>
                <c:pt idx="4">
                  <c:v>1.4</c:v>
                </c:pt>
                <c:pt idx="5">
                  <c:v>-2.8</c:v>
                </c:pt>
                <c:pt idx="6">
                  <c:v>4.6</c:v>
                </c:pt>
                <c:pt idx="7">
                  <c:v>4.7</c:v>
                </c:pt>
                <c:pt idx="8">
                  <c:v>4.7</c:v>
                </c:pt>
                <c:pt idx="9">
                  <c:v>5.3</c:v>
                </c:pt>
              </c:numCache>
            </c:numRef>
          </c:val>
        </c:ser>
        <c:gapWidth val="80"/>
        <c:axId val="-2068027336"/>
        <c:axId val="-2113994440"/>
      </c:barChart>
      <c:catAx>
        <c:axId val="-2068027336"/>
        <c:scaling>
          <c:orientation val="minMax"/>
        </c:scaling>
        <c:delete val="0"/>
        <c:axPos val="b"/>
        <c:majorTickMark val="out"/>
        <c:minorTickMark val="none"/>
        <c:tickLblPos val="nextTo"/>
        <c:txPr>
          <a:bodyPr/>
          <a:lstStyle/>
          <a:p>
            <a:pPr>
              <a:defRPr sz="700">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7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
                </c:pt>
              </c:strCache>
            </c:strRef>
          </c:tx>
          <c:spPr>
            <a:solidFill>
              <a:srgbClr val="E88C00"/>
            </a:solidFill>
            <a:ln>
              <a:solidFill>
                <a:srgbClr val="E88C00"/>
              </a:solidFill>
            </a:ln>
          </c:spPr>
          <c:dPt>
            <c:idx val="5"/>
            <c:spPr>
              <a:solidFill>
                <a:srgbClr val="E74C3C"/>
              </a:solidFill>
            </c:spPr>
          </c:dPt>
          <c:dPt>
            <c:idx val="9"/>
            <c:spPr>
              <a:solidFill>
                <a:srgbClr val="2ECC71"/>
              </a:solidFill>
            </c:spPr>
          </c:dPt>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3.1</c:v>
                </c:pt>
                <c:pt idx="1">
                  <c:v>2.4</c:v>
                </c:pt>
                <c:pt idx="2">
                  <c:v>4.2</c:v>
                </c:pt>
                <c:pt idx="3">
                  <c:v>1.7</c:v>
                </c:pt>
                <c:pt idx="4">
                  <c:v>2.5</c:v>
                </c:pt>
                <c:pt idx="5">
                  <c:v>1.9</c:v>
                </c:pt>
                <c:pt idx="6">
                  <c:v>3.6</c:v>
                </c:pt>
                <c:pt idx="7">
                  <c:v>4.9</c:v>
                </c:pt>
                <c:pt idx="8">
                  <c:v>6.8</c:v>
                </c:pt>
                <c:pt idx="9">
                  <c:v>9.32</c:v>
                </c:pt>
              </c:numCache>
            </c:numRef>
          </c:val>
        </c:ser>
        <c:gapWidth val="80"/>
        <c:axId val="-2068027336"/>
        <c:axId val="-2113994440"/>
      </c:barChart>
      <c:catAx>
        <c:axId val="-2068027336"/>
        <c:scaling>
          <c:orientation val="minMax"/>
        </c:scaling>
        <c:delete val="0"/>
        <c:axPos val="b"/>
        <c:majorTickMark val="out"/>
        <c:minorTickMark val="none"/>
        <c:tickLblPos val="nextTo"/>
        <c:txPr>
          <a:bodyPr/>
          <a:lstStyle/>
          <a:p>
            <a:pPr>
              <a:defRPr sz="700">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7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20040"/>
            <a:ext cx="7315200" cy="365760"/>
          </a:xfrm>
          <a:prstGeom prst="rect">
            <a:avLst/>
          </a:prstGeom>
          <a:noFill/>
        </p:spPr>
        <p:txBody>
          <a:bodyPr wrap="square">
            <a:spAutoFit/>
          </a:bodyPr>
          <a:lstStyle/>
          <a:p>
            <a:pPr algn="l"/>
            <a:r>
              <a:rPr sz="900" b="1" i="0">
                <a:solidFill>
                  <a:srgbClr val="E88C00"/>
                </a:solidFill>
                <a:latin typeface="Calibri"/>
              </a:rPr>
              <a:t>ZAMBIA  ·  MACROECONOMIC ANALYSIS  ·  2015–2025</a:t>
            </a:r>
          </a:p>
        </p:txBody>
      </p:sp>
      <p:sp>
        <p:nvSpPr>
          <p:cNvPr id="5" name="TextBox 4"/>
          <p:cNvSpPr txBox="1"/>
          <p:nvPr/>
        </p:nvSpPr>
        <p:spPr>
          <a:xfrm>
            <a:off x="457200" y="914400"/>
            <a:ext cx="11338560" cy="2011680"/>
          </a:xfrm>
          <a:prstGeom prst="rect">
            <a:avLst/>
          </a:prstGeom>
          <a:noFill/>
        </p:spPr>
        <p:txBody>
          <a:bodyPr wrap="square">
            <a:spAutoFit/>
          </a:bodyPr>
          <a:lstStyle/>
          <a:p>
            <a:pPr algn="l"/>
            <a:r>
              <a:rPr sz="3800" b="1">
                <a:solidFill>
                  <a:srgbClr val="F5F5F5"/>
                </a:solidFill>
                <a:latin typeface="Calibri"/>
              </a:rPr>
              <a:t>Zambia's Debt Restructuring</a:t>
            </a:r>
          </a:p>
          <a:p>
            <a:pPr algn="l"/>
            <a:r>
              <a:rPr sz="3800" b="1">
                <a:solidFill>
                  <a:srgbClr val="F5F5F5"/>
                </a:solidFill>
                <a:latin typeface="Calibri"/>
              </a:rPr>
              <a:t>Converted a Commodity Windfall</a:t>
            </a:r>
          </a:p>
          <a:p>
            <a:pPr algn="l"/>
            <a:r>
              <a:rPr sz="3800" b="1">
                <a:solidFill>
                  <a:srgbClr val="E88C00"/>
                </a:solidFill>
                <a:latin typeface="Calibri"/>
              </a:rPr>
              <a:t>Into a Durable Recovery</a:t>
            </a:r>
          </a:p>
        </p:txBody>
      </p:sp>
      <p:sp>
        <p:nvSpPr>
          <p:cNvPr id="6" name="Rectangle 5"/>
          <p:cNvSpPr/>
          <p:nvPr/>
        </p:nvSpPr>
        <p:spPr>
          <a:xfrm>
            <a:off x="457200" y="2926080"/>
            <a:ext cx="8229600" cy="1905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063240"/>
            <a:ext cx="1645920" cy="320040"/>
          </a:xfrm>
          <a:prstGeom prst="rect">
            <a:avLst/>
          </a:prstGeom>
          <a:noFill/>
        </p:spPr>
        <p:txBody>
          <a:bodyPr wrap="square">
            <a:spAutoFit/>
          </a:bodyPr>
          <a:lstStyle/>
          <a:p>
            <a:pPr algn="l"/>
            <a:r>
              <a:rPr sz="900" b="1" i="0">
                <a:solidFill>
                  <a:srgbClr val="E88C00"/>
                </a:solidFill>
                <a:latin typeface="Calibri"/>
              </a:rPr>
              <a:t>BIG IDEA</a:t>
            </a:r>
          </a:p>
        </p:txBody>
      </p:sp>
      <p:sp>
        <p:nvSpPr>
          <p:cNvPr id="8" name="TextBox 7"/>
          <p:cNvSpPr txBox="1"/>
          <p:nvPr/>
        </p:nvSpPr>
        <p:spPr>
          <a:xfrm>
            <a:off x="457200" y="3383280"/>
            <a:ext cx="10789920" cy="1371600"/>
          </a:xfrm>
          <a:prstGeom prst="rect">
            <a:avLst/>
          </a:prstGeom>
          <a:noFill/>
        </p:spPr>
        <p:txBody>
          <a:bodyPr wrap="square">
            <a:spAutoFit/>
          </a:bodyPr>
          <a:lstStyle/>
          <a:p>
            <a:pPr algn="l"/>
            <a:r>
              <a:rPr sz="1300" b="0" i="1">
                <a:solidFill>
                  <a:srgbClr val="F5F5F5"/>
                </a:solidFill>
                <a:latin typeface="Calibri"/>
              </a:rPr>
              <a:t>Zambia's G20 Common Framework debt restructuring converted a copper-driven fiscal windfall into a durable institutional framework — slashing PPG debt service from 12.5 % to 3 % of exports, sustaining 5 %+ GDP growth, and attracting record FDI of 9.32 % of GDP in 2024 — proving that commodity luck alone cannot anchor a recovery without credible institutional reform.</a:t>
            </a:r>
          </a:p>
        </p:txBody>
      </p:sp>
      <p:sp>
        <p:nvSpPr>
          <p:cNvPr id="9" name="TextBox 8"/>
          <p:cNvSpPr txBox="1"/>
          <p:nvPr/>
        </p:nvSpPr>
        <p:spPr>
          <a:xfrm>
            <a:off x="457200" y="6309360"/>
            <a:ext cx="5486400" cy="365760"/>
          </a:xfrm>
          <a:prstGeom prst="rect">
            <a:avLst/>
          </a:prstGeom>
          <a:noFill/>
        </p:spPr>
        <p:txBody>
          <a:bodyPr wrap="square">
            <a:spAutoFit/>
          </a:bodyPr>
          <a:lstStyle/>
          <a:p>
            <a:pPr algn="l"/>
            <a:r>
              <a:rPr sz="900" b="0" i="0">
                <a:solidFill>
                  <a:srgbClr val="B0BEC5"/>
                </a:solidFill>
                <a:latin typeface="Calibri"/>
              </a:rPr>
              <a:t>Boldwin Mweemba  ·  Data Analyst  ·  2026</a:t>
            </a:r>
          </a:p>
        </p:txBody>
      </p:sp>
      <p:sp>
        <p:nvSpPr>
          <p:cNvPr id="10" name="TextBox 9"/>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7315200" cy="365760"/>
          </a:xfrm>
          <a:prstGeom prst="rect">
            <a:avLst/>
          </a:prstGeom>
          <a:noFill/>
        </p:spPr>
        <p:txBody>
          <a:bodyPr wrap="square">
            <a:spAutoFit/>
          </a:bodyPr>
          <a:lstStyle/>
          <a:p>
            <a:pPr algn="l"/>
            <a:r>
              <a:rPr sz="900" b="1" i="0">
                <a:solidFill>
                  <a:srgbClr val="E74C3C"/>
                </a:solidFill>
                <a:latin typeface="Calibri"/>
              </a:rPr>
              <a:t>3-MINUTE STORY  ·  PART 1 OF 4  ·  THE PROBLEM</a:t>
            </a:r>
          </a:p>
        </p:txBody>
      </p:sp>
      <p:sp>
        <p:nvSpPr>
          <p:cNvPr id="5" name="TextBox 4"/>
          <p:cNvSpPr txBox="1"/>
          <p:nvPr/>
        </p:nvSpPr>
        <p:spPr>
          <a:xfrm>
            <a:off x="457200" y="640080"/>
            <a:ext cx="10972800" cy="1005840"/>
          </a:xfrm>
          <a:prstGeom prst="rect">
            <a:avLst/>
          </a:prstGeom>
          <a:noFill/>
        </p:spPr>
        <p:txBody>
          <a:bodyPr wrap="square">
            <a:spAutoFit/>
          </a:bodyPr>
          <a:lstStyle/>
          <a:p>
            <a:pPr algn="l"/>
            <a:r>
              <a:rPr sz="2800" b="1">
                <a:solidFill>
                  <a:srgbClr val="F5F5F5"/>
                </a:solidFill>
                <a:latin typeface="Calibri"/>
              </a:rPr>
              <a:t>The Debt Spiral: How Zambia Reached Default</a:t>
            </a:r>
          </a:p>
        </p:txBody>
      </p:sp>
      <p:sp>
        <p:nvSpPr>
          <p:cNvPr id="6" name="Rectangle 5"/>
          <p:cNvSpPr/>
          <p:nvPr/>
        </p:nvSpPr>
        <p:spPr>
          <a:xfrm>
            <a:off x="457200" y="1600200"/>
            <a:ext cx="5029200" cy="1905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28800"/>
            <a:ext cx="5486400" cy="2743200"/>
          </a:xfrm>
          <a:prstGeom prst="rect">
            <a:avLst/>
          </a:prstGeom>
          <a:noFill/>
        </p:spPr>
        <p:txBody>
          <a:bodyPr wrap="square">
            <a:spAutoFit/>
          </a:bodyPr>
          <a:lstStyle/>
          <a:p>
            <a:pPr algn="l"/>
            <a:r>
              <a:rPr sz="1200" b="0">
                <a:solidFill>
                  <a:srgbClr val="F5F5F5"/>
                </a:solidFill>
                <a:latin typeface="Calibri"/>
              </a:rPr>
              <a:t>Between 2015 and 2019, Zambia's external debt tripled — from $12.3 B to $29.1 B — as the government borrowed heavily against future copper revenues. When COVID-19 struck in 2020, the fiscal position collapsed. In November 2020, Zambia became the first African sovereign to default during the pandemic era, missing a $42.5 M Eurobond coupon payment.</a:t>
            </a:r>
          </a:p>
          <a:p>
            <a:pPr algn="l"/>
            <a:r>
              <a:rPr sz="1200" b="0">
                <a:solidFill>
                  <a:srgbClr val="F5F5F5"/>
                </a:solidFill>
                <a:latin typeface="Calibri"/>
              </a:rPr>
              <a:t/>
            </a:r>
          </a:p>
          <a:p>
            <a:pPr algn="l"/>
            <a:r>
              <a:rPr sz="1200" b="0">
                <a:solidFill>
                  <a:srgbClr val="B0BEC5"/>
                </a:solidFill>
                <a:latin typeface="Calibri"/>
              </a:rPr>
              <a:t>Two structural vulnerabilities converged:</a:t>
            </a:r>
          </a:p>
          <a:p>
            <a:pPr algn="l"/>
            <a:r>
              <a:rPr sz="1200" b="0">
                <a:solidFill>
                  <a:srgbClr val="B0BEC5"/>
                </a:solidFill>
                <a:latin typeface="Calibri"/>
              </a:rPr>
              <a:t>  •  A copper-dependent export base unable to absorb a commodity price shock</a:t>
            </a:r>
          </a:p>
          <a:p>
            <a:pPr algn="l"/>
            <a:r>
              <a:rPr sz="1200" b="0">
                <a:solidFill>
                  <a:srgbClr val="B0BEC5"/>
                </a:solidFill>
                <a:latin typeface="Calibri"/>
              </a:rPr>
              <a:t>  •  Debt service obligations that consumed 12.5 % of all export earnings</a:t>
            </a:r>
          </a:p>
        </p:txBody>
      </p:sp>
      <p:sp>
        <p:nvSpPr>
          <p:cNvPr id="8" name="TextBox 7"/>
          <p:cNvSpPr txBox="1"/>
          <p:nvPr/>
        </p:nvSpPr>
        <p:spPr>
          <a:xfrm>
            <a:off x="6583680" y="1508760"/>
            <a:ext cx="5212080" cy="274320"/>
          </a:xfrm>
          <a:prstGeom prst="rect">
            <a:avLst/>
          </a:prstGeom>
          <a:noFill/>
        </p:spPr>
        <p:txBody>
          <a:bodyPr wrap="square">
            <a:spAutoFit/>
          </a:bodyPr>
          <a:lstStyle/>
          <a:p>
            <a:pPr algn="l"/>
            <a:r>
              <a:rPr sz="800" b="1" i="0">
                <a:solidFill>
                  <a:srgbClr val="B0BEC5"/>
                </a:solidFill>
                <a:latin typeface="Calibri"/>
              </a:rPr>
              <a:t>EXTERNAL DEBT  ($ billions)  ·  2015–2024</a:t>
            </a:r>
          </a:p>
        </p:txBody>
      </p:sp>
      <p:sp>
        <p:nvSpPr>
          <p:cNvPr id="9" name="Rectangle 8"/>
          <p:cNvSpPr/>
          <p:nvPr/>
        </p:nvSpPr>
        <p:spPr>
          <a:xfrm>
            <a:off x="6583680" y="1783080"/>
            <a:ext cx="5349240"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6583680" y="1783080"/>
          <a:ext cx="5349240" cy="2834640"/>
        </p:xfrm>
        <a:graphic>
          <a:graphicData uri="http://schemas.openxmlformats.org/drawingml/2006/chart">
            <c:chart xmlns:c="http://schemas.openxmlformats.org/drawingml/2006/chart" r:id="rId2"/>
          </a:graphicData>
        </a:graphic>
      </p:graphicFrame>
      <p:sp>
        <p:nvSpPr>
          <p:cNvPr id="11" name="Rectangle 10"/>
          <p:cNvSpPr/>
          <p:nvPr/>
        </p:nvSpPr>
        <p:spPr>
          <a:xfrm>
            <a:off x="457200" y="4846320"/>
            <a:ext cx="530352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937760"/>
            <a:ext cx="5029200" cy="365760"/>
          </a:xfrm>
          <a:prstGeom prst="rect">
            <a:avLst/>
          </a:prstGeom>
          <a:noFill/>
        </p:spPr>
        <p:txBody>
          <a:bodyPr wrap="square">
            <a:spAutoFit/>
          </a:bodyPr>
          <a:lstStyle/>
          <a:p>
            <a:pPr algn="l"/>
            <a:r>
              <a:rPr sz="900" b="0" i="0">
                <a:solidFill>
                  <a:srgbClr val="B0BEC5"/>
                </a:solidFill>
                <a:latin typeface="Calibri"/>
              </a:rPr>
              <a:t>PPG DEBT SERVICE AT PEAK</a:t>
            </a:r>
          </a:p>
        </p:txBody>
      </p:sp>
      <p:sp>
        <p:nvSpPr>
          <p:cNvPr id="13" name="TextBox 12"/>
          <p:cNvSpPr txBox="1"/>
          <p:nvPr/>
        </p:nvSpPr>
        <p:spPr>
          <a:xfrm>
            <a:off x="594360" y="5257800"/>
            <a:ext cx="2286000" cy="411480"/>
          </a:xfrm>
          <a:prstGeom prst="rect">
            <a:avLst/>
          </a:prstGeom>
          <a:noFill/>
        </p:spPr>
        <p:txBody>
          <a:bodyPr wrap="square">
            <a:spAutoFit/>
          </a:bodyPr>
          <a:lstStyle/>
          <a:p>
            <a:pPr algn="l"/>
            <a:r>
              <a:rPr sz="2200" b="1" i="0">
                <a:solidFill>
                  <a:srgbClr val="E74C3C"/>
                </a:solidFill>
                <a:latin typeface="Calibri"/>
              </a:rPr>
              <a:t>12.5%</a:t>
            </a:r>
          </a:p>
        </p:txBody>
      </p:sp>
      <p:sp>
        <p:nvSpPr>
          <p:cNvPr id="14" name="TextBox 13"/>
          <p:cNvSpPr txBox="1"/>
          <p:nvPr/>
        </p:nvSpPr>
        <p:spPr>
          <a:xfrm>
            <a:off x="2743200" y="5349240"/>
            <a:ext cx="2743200" cy="320040"/>
          </a:xfrm>
          <a:prstGeom prst="rect">
            <a:avLst/>
          </a:prstGeom>
          <a:noFill/>
        </p:spPr>
        <p:txBody>
          <a:bodyPr wrap="square">
            <a:spAutoFit/>
          </a:bodyPr>
          <a:lstStyle/>
          <a:p>
            <a:pPr algn="l"/>
            <a:r>
              <a:rPr sz="1100" b="0" i="0">
                <a:solidFill>
                  <a:srgbClr val="B0BEC5"/>
                </a:solidFill>
                <a:latin typeface="Calibri"/>
              </a:rPr>
              <a:t>of total export earnings</a:t>
            </a:r>
          </a:p>
        </p:txBody>
      </p:sp>
      <p:sp>
        <p:nvSpPr>
          <p:cNvPr id="15" name="TextBox 14"/>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8229600" cy="365760"/>
          </a:xfrm>
          <a:prstGeom prst="rect">
            <a:avLst/>
          </a:prstGeom>
          <a:noFill/>
        </p:spPr>
        <p:txBody>
          <a:bodyPr wrap="square">
            <a:spAutoFit/>
          </a:bodyPr>
          <a:lstStyle/>
          <a:p>
            <a:pPr algn="l"/>
            <a:r>
              <a:rPr sz="900" b="1" i="0">
                <a:solidFill>
                  <a:srgbClr val="E88C00"/>
                </a:solidFill>
                <a:latin typeface="Calibri"/>
              </a:rPr>
              <a:t>3-MINUTE STORY  ·  PART 2 OF 4  ·  THE INFLECTION</a:t>
            </a:r>
          </a:p>
        </p:txBody>
      </p:sp>
      <p:sp>
        <p:nvSpPr>
          <p:cNvPr id="5" name="TextBox 4"/>
          <p:cNvSpPr txBox="1"/>
          <p:nvPr/>
        </p:nvSpPr>
        <p:spPr>
          <a:xfrm>
            <a:off x="457200" y="640080"/>
            <a:ext cx="10972800" cy="1005840"/>
          </a:xfrm>
          <a:prstGeom prst="rect">
            <a:avLst/>
          </a:prstGeom>
          <a:noFill/>
        </p:spPr>
        <p:txBody>
          <a:bodyPr wrap="square">
            <a:spAutoFit/>
          </a:bodyPr>
          <a:lstStyle/>
          <a:p>
            <a:pPr algn="l"/>
            <a:r>
              <a:rPr sz="2800" b="1">
                <a:solidFill>
                  <a:srgbClr val="F5F5F5"/>
                </a:solidFill>
                <a:latin typeface="Calibri"/>
              </a:rPr>
              <a:t>Copper Created the Breathing Room</a:t>
            </a:r>
          </a:p>
        </p:txBody>
      </p:sp>
      <p:sp>
        <p:nvSpPr>
          <p:cNvPr id="6" name="Rectangle 5"/>
          <p:cNvSpPr/>
          <p:nvPr/>
        </p:nvSpPr>
        <p:spPr>
          <a:xfrm>
            <a:off x="457200" y="1600200"/>
            <a:ext cx="5029200" cy="1905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28800"/>
            <a:ext cx="5669280" cy="3200400"/>
          </a:xfrm>
          <a:prstGeom prst="rect">
            <a:avLst/>
          </a:prstGeom>
          <a:noFill/>
        </p:spPr>
        <p:txBody>
          <a:bodyPr wrap="square">
            <a:spAutoFit/>
          </a:bodyPr>
          <a:lstStyle/>
          <a:p>
            <a:pPr algn="l"/>
            <a:r>
              <a:rPr sz="1200" b="0">
                <a:solidFill>
                  <a:srgbClr val="F5F5F5"/>
                </a:solidFill>
                <a:latin typeface="Calibri"/>
              </a:rPr>
              <a:t>Before the restructuring deal was signed, a copper price supercycle transformed Zambia's external position. The current account swung from a -3.6 % deficit in 2015 to a +11.9 % surplus in 2021 — purely on the back of commodity revenue.</a:t>
            </a:r>
          </a:p>
          <a:p>
            <a:pPr algn="l"/>
            <a:r>
              <a:rPr sz="1200" b="0">
                <a:solidFill>
                  <a:srgbClr val="F5F5F5"/>
                </a:solidFill>
                <a:latin typeface="Calibri"/>
              </a:rPr>
              <a:t/>
            </a:r>
          </a:p>
          <a:p>
            <a:pPr algn="l"/>
            <a:r>
              <a:rPr sz="1200" b="0">
                <a:solidFill>
                  <a:srgbClr val="F5F5F5"/>
                </a:solidFill>
                <a:latin typeface="Calibri"/>
              </a:rPr>
              <a:t>Simultaneously, the IMF approved a $1.3 B Extended Credit Facility (ECF) programme, giving the government a credible fiscal anchor and unlocking multilateral support.</a:t>
            </a:r>
          </a:p>
          <a:p>
            <a:pPr algn="l"/>
            <a:r>
              <a:rPr sz="1200" b="0">
                <a:solidFill>
                  <a:srgbClr val="F5F5F5"/>
                </a:solidFill>
                <a:latin typeface="Calibri"/>
              </a:rPr>
              <a:t/>
            </a:r>
          </a:p>
          <a:p>
            <a:pPr algn="l"/>
            <a:r>
              <a:rPr sz="1200" b="1">
                <a:solidFill>
                  <a:srgbClr val="E88C00"/>
                </a:solidFill>
                <a:latin typeface="Calibri"/>
              </a:rPr>
              <a:t>KEY INSIGHT: The copper windfall was necessary but not sufficient. Without institutional reform, history suggested it would be spent — not saved.</a:t>
            </a:r>
          </a:p>
        </p:txBody>
      </p:sp>
      <p:sp>
        <p:nvSpPr>
          <p:cNvPr id="8" name="Rectangle 7"/>
          <p:cNvSpPr/>
          <p:nvPr/>
        </p:nvSpPr>
        <p:spPr>
          <a:xfrm>
            <a:off x="6675120" y="1645920"/>
            <a:ext cx="1691640"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1737360"/>
            <a:ext cx="1508760" cy="411480"/>
          </a:xfrm>
          <a:prstGeom prst="rect">
            <a:avLst/>
          </a:prstGeom>
          <a:noFill/>
        </p:spPr>
        <p:txBody>
          <a:bodyPr wrap="square">
            <a:spAutoFit/>
          </a:bodyPr>
          <a:lstStyle/>
          <a:p>
            <a:pPr algn="ctr"/>
            <a:r>
              <a:rPr sz="1400" b="0" i="0">
                <a:solidFill>
                  <a:srgbClr val="B0BEC5"/>
                </a:solidFill>
                <a:latin typeface="Calibri"/>
              </a:rPr>
              <a:t>Current Account
2015</a:t>
            </a:r>
          </a:p>
        </p:txBody>
      </p:sp>
      <p:sp>
        <p:nvSpPr>
          <p:cNvPr id="10" name="TextBox 9"/>
          <p:cNvSpPr txBox="1"/>
          <p:nvPr/>
        </p:nvSpPr>
        <p:spPr>
          <a:xfrm>
            <a:off x="6720840" y="2121408"/>
            <a:ext cx="1600200" cy="530352"/>
          </a:xfrm>
          <a:prstGeom prst="rect">
            <a:avLst/>
          </a:prstGeom>
          <a:noFill/>
        </p:spPr>
        <p:txBody>
          <a:bodyPr wrap="square">
            <a:spAutoFit/>
          </a:bodyPr>
          <a:lstStyle/>
          <a:p>
            <a:pPr algn="ctr"/>
            <a:r>
              <a:rPr sz="2400" b="1" i="0">
                <a:solidFill>
                  <a:srgbClr val="E74C3C"/>
                </a:solidFill>
                <a:latin typeface="Calibri"/>
              </a:rPr>
              <a:t>-3.6%</a:t>
            </a:r>
          </a:p>
        </p:txBody>
      </p:sp>
      <p:sp>
        <p:nvSpPr>
          <p:cNvPr id="11" name="TextBox 10"/>
          <p:cNvSpPr txBox="1"/>
          <p:nvPr/>
        </p:nvSpPr>
        <p:spPr>
          <a:xfrm>
            <a:off x="6766560" y="2633472"/>
            <a:ext cx="1508760" cy="384048"/>
          </a:xfrm>
          <a:prstGeom prst="rect">
            <a:avLst/>
          </a:prstGeom>
          <a:noFill/>
        </p:spPr>
        <p:txBody>
          <a:bodyPr wrap="square">
            <a:spAutoFit/>
          </a:bodyPr>
          <a:lstStyle/>
          <a:p>
            <a:pPr algn="ctr"/>
            <a:r>
              <a:rPr sz="1200" b="0" i="0">
                <a:solidFill>
                  <a:srgbClr val="B0BEC5"/>
                </a:solidFill>
                <a:latin typeface="Calibri"/>
              </a:rPr>
              <a:t>of GDP  (deficit)</a:t>
            </a:r>
          </a:p>
        </p:txBody>
      </p:sp>
      <p:sp>
        <p:nvSpPr>
          <p:cNvPr id="12" name="Rectangle 11"/>
          <p:cNvSpPr/>
          <p:nvPr/>
        </p:nvSpPr>
        <p:spPr>
          <a:xfrm>
            <a:off x="8503920" y="1645920"/>
            <a:ext cx="1691640"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737360"/>
            <a:ext cx="1508760" cy="411480"/>
          </a:xfrm>
          <a:prstGeom prst="rect">
            <a:avLst/>
          </a:prstGeom>
          <a:noFill/>
        </p:spPr>
        <p:txBody>
          <a:bodyPr wrap="square">
            <a:spAutoFit/>
          </a:bodyPr>
          <a:lstStyle/>
          <a:p>
            <a:pPr algn="ctr"/>
            <a:r>
              <a:rPr sz="1400" b="0" i="0">
                <a:solidFill>
                  <a:srgbClr val="B0BEC5"/>
                </a:solidFill>
                <a:latin typeface="Calibri"/>
              </a:rPr>
              <a:t>Current Account
2021</a:t>
            </a:r>
          </a:p>
        </p:txBody>
      </p:sp>
      <p:sp>
        <p:nvSpPr>
          <p:cNvPr id="14" name="TextBox 13"/>
          <p:cNvSpPr txBox="1"/>
          <p:nvPr/>
        </p:nvSpPr>
        <p:spPr>
          <a:xfrm>
            <a:off x="8549640" y="2121408"/>
            <a:ext cx="1600200" cy="530352"/>
          </a:xfrm>
          <a:prstGeom prst="rect">
            <a:avLst/>
          </a:prstGeom>
          <a:noFill/>
        </p:spPr>
        <p:txBody>
          <a:bodyPr wrap="square">
            <a:spAutoFit/>
          </a:bodyPr>
          <a:lstStyle/>
          <a:p>
            <a:pPr algn="ctr"/>
            <a:r>
              <a:rPr sz="2400" b="1" i="0">
                <a:solidFill>
                  <a:srgbClr val="2ECC71"/>
                </a:solidFill>
                <a:latin typeface="Calibri"/>
              </a:rPr>
              <a:t>+11.9%</a:t>
            </a:r>
          </a:p>
        </p:txBody>
      </p:sp>
      <p:sp>
        <p:nvSpPr>
          <p:cNvPr id="15" name="TextBox 14"/>
          <p:cNvSpPr txBox="1"/>
          <p:nvPr/>
        </p:nvSpPr>
        <p:spPr>
          <a:xfrm>
            <a:off x="8595360" y="2633472"/>
            <a:ext cx="1508760" cy="384048"/>
          </a:xfrm>
          <a:prstGeom prst="rect">
            <a:avLst/>
          </a:prstGeom>
          <a:noFill/>
        </p:spPr>
        <p:txBody>
          <a:bodyPr wrap="square">
            <a:spAutoFit/>
          </a:bodyPr>
          <a:lstStyle/>
          <a:p>
            <a:pPr algn="ctr"/>
            <a:r>
              <a:rPr sz="1200" b="0" i="0">
                <a:solidFill>
                  <a:srgbClr val="B0BEC5"/>
                </a:solidFill>
                <a:latin typeface="Calibri"/>
              </a:rPr>
              <a:t>of GDP  (surplus)</a:t>
            </a:r>
          </a:p>
        </p:txBody>
      </p:sp>
      <p:sp>
        <p:nvSpPr>
          <p:cNvPr id="16" name="Rectangle 15"/>
          <p:cNvSpPr/>
          <p:nvPr/>
        </p:nvSpPr>
        <p:spPr>
          <a:xfrm>
            <a:off x="10332720" y="1645920"/>
            <a:ext cx="1691640"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0" y="1737360"/>
            <a:ext cx="1508760" cy="411480"/>
          </a:xfrm>
          <a:prstGeom prst="rect">
            <a:avLst/>
          </a:prstGeom>
          <a:noFill/>
        </p:spPr>
        <p:txBody>
          <a:bodyPr wrap="square">
            <a:spAutoFit/>
          </a:bodyPr>
          <a:lstStyle/>
          <a:p>
            <a:pPr algn="ctr"/>
            <a:r>
              <a:rPr sz="1400" b="0" i="0">
                <a:solidFill>
                  <a:srgbClr val="B0BEC5"/>
                </a:solidFill>
                <a:latin typeface="Calibri"/>
              </a:rPr>
              <a:t>IMF ECF
Programme</a:t>
            </a:r>
          </a:p>
        </p:txBody>
      </p:sp>
      <p:sp>
        <p:nvSpPr>
          <p:cNvPr id="18" name="TextBox 17"/>
          <p:cNvSpPr txBox="1"/>
          <p:nvPr/>
        </p:nvSpPr>
        <p:spPr>
          <a:xfrm>
            <a:off x="10378440" y="2121408"/>
            <a:ext cx="1600200" cy="530352"/>
          </a:xfrm>
          <a:prstGeom prst="rect">
            <a:avLst/>
          </a:prstGeom>
          <a:noFill/>
        </p:spPr>
        <p:txBody>
          <a:bodyPr wrap="square">
            <a:spAutoFit/>
          </a:bodyPr>
          <a:lstStyle/>
          <a:p>
            <a:pPr algn="ctr"/>
            <a:r>
              <a:rPr sz="2400" b="1" i="0">
                <a:solidFill>
                  <a:srgbClr val="E88C00"/>
                </a:solidFill>
                <a:latin typeface="Calibri"/>
              </a:rPr>
              <a:t>$1.3 B</a:t>
            </a:r>
          </a:p>
        </p:txBody>
      </p:sp>
      <p:sp>
        <p:nvSpPr>
          <p:cNvPr id="19" name="TextBox 18"/>
          <p:cNvSpPr txBox="1"/>
          <p:nvPr/>
        </p:nvSpPr>
        <p:spPr>
          <a:xfrm>
            <a:off x="10424160" y="2633472"/>
            <a:ext cx="1508760" cy="384048"/>
          </a:xfrm>
          <a:prstGeom prst="rect">
            <a:avLst/>
          </a:prstGeom>
          <a:noFill/>
        </p:spPr>
        <p:txBody>
          <a:bodyPr wrap="square">
            <a:spAutoFit/>
          </a:bodyPr>
          <a:lstStyle/>
          <a:p>
            <a:pPr algn="ctr"/>
            <a:r>
              <a:rPr sz="1200" b="0" i="0">
                <a:solidFill>
                  <a:srgbClr val="B0BEC5"/>
                </a:solidFill>
                <a:latin typeface="Calibri"/>
              </a:rPr>
              <a:t>approved 2022</a:t>
            </a:r>
          </a:p>
        </p:txBody>
      </p:sp>
      <p:sp>
        <p:nvSpPr>
          <p:cNvPr id="20" name="TextBox 19"/>
          <p:cNvSpPr txBox="1"/>
          <p:nvPr/>
        </p:nvSpPr>
        <p:spPr>
          <a:xfrm>
            <a:off x="6675120" y="3337560"/>
            <a:ext cx="5349240" cy="274320"/>
          </a:xfrm>
          <a:prstGeom prst="rect">
            <a:avLst/>
          </a:prstGeom>
          <a:noFill/>
        </p:spPr>
        <p:txBody>
          <a:bodyPr wrap="square">
            <a:spAutoFit/>
          </a:bodyPr>
          <a:lstStyle/>
          <a:p>
            <a:pPr algn="l"/>
            <a:r>
              <a:rPr sz="800" b="1" i="0">
                <a:solidFill>
                  <a:srgbClr val="B0BEC5"/>
                </a:solidFill>
                <a:latin typeface="Calibri"/>
              </a:rPr>
              <a:t>CURRENT ACCOUNT BALANCE  (% of GDP)  ·  2015–2024</a:t>
            </a:r>
          </a:p>
        </p:txBody>
      </p:sp>
      <p:sp>
        <p:nvSpPr>
          <p:cNvPr id="21" name="Rectangle 20"/>
          <p:cNvSpPr/>
          <p:nvPr/>
        </p:nvSpPr>
        <p:spPr>
          <a:xfrm>
            <a:off x="6675120" y="3611880"/>
            <a:ext cx="5349240" cy="251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 name="Chart 21"/>
          <p:cNvGraphicFramePr>
            <a:graphicFrameLocks noGrp="1"/>
          </p:cNvGraphicFramePr>
          <p:nvPr/>
        </p:nvGraphicFramePr>
        <p:xfrm>
          <a:off x="6675120" y="3611880"/>
          <a:ext cx="5349240" cy="2514600"/>
        </p:xfrm>
        <a:graphic>
          <a:graphicData uri="http://schemas.openxmlformats.org/drawingml/2006/chart">
            <c:chart xmlns:c="http://schemas.openxmlformats.org/drawingml/2006/chart" r:id="rId2"/>
          </a:graphicData>
        </a:graphic>
      </p:graphicFrame>
      <p:sp>
        <p:nvSpPr>
          <p:cNvPr id="23" name="TextBox 22"/>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8229600" cy="365760"/>
          </a:xfrm>
          <a:prstGeom prst="rect">
            <a:avLst/>
          </a:prstGeom>
          <a:noFill/>
        </p:spPr>
        <p:txBody>
          <a:bodyPr wrap="square">
            <a:spAutoFit/>
          </a:bodyPr>
          <a:lstStyle/>
          <a:p>
            <a:pPr algn="l"/>
            <a:r>
              <a:rPr sz="900" b="1" i="0">
                <a:solidFill>
                  <a:srgbClr val="2ECC71"/>
                </a:solidFill>
                <a:latin typeface="Calibri"/>
              </a:rPr>
              <a:t>3-MINUTE STORY  ·  PART 3 OF 4  ·  THE STRUCTURAL FIX</a:t>
            </a:r>
          </a:p>
        </p:txBody>
      </p:sp>
      <p:sp>
        <p:nvSpPr>
          <p:cNvPr id="5" name="TextBox 4"/>
          <p:cNvSpPr txBox="1"/>
          <p:nvPr/>
        </p:nvSpPr>
        <p:spPr>
          <a:xfrm>
            <a:off x="457200" y="640080"/>
            <a:ext cx="10972800" cy="1005840"/>
          </a:xfrm>
          <a:prstGeom prst="rect">
            <a:avLst/>
          </a:prstGeom>
          <a:noFill/>
        </p:spPr>
        <p:txBody>
          <a:bodyPr wrap="square">
            <a:spAutoFit/>
          </a:bodyPr>
          <a:lstStyle/>
          <a:p>
            <a:pPr algn="l"/>
            <a:r>
              <a:rPr sz="2800" b="1">
                <a:solidFill>
                  <a:srgbClr val="F5F5F5"/>
                </a:solidFill>
                <a:latin typeface="Calibri"/>
              </a:rPr>
              <a:t>Debt Restructuring Locked In the Gains</a:t>
            </a:r>
          </a:p>
        </p:txBody>
      </p:sp>
      <p:sp>
        <p:nvSpPr>
          <p:cNvPr id="6" name="Rectangle 5"/>
          <p:cNvSpPr/>
          <p:nvPr/>
        </p:nvSpPr>
        <p:spPr>
          <a:xfrm>
            <a:off x="457200" y="1600200"/>
            <a:ext cx="5029200" cy="1905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28800"/>
            <a:ext cx="5669280" cy="3474720"/>
          </a:xfrm>
          <a:prstGeom prst="rect">
            <a:avLst/>
          </a:prstGeom>
          <a:noFill/>
        </p:spPr>
        <p:txBody>
          <a:bodyPr wrap="square">
            <a:spAutoFit/>
          </a:bodyPr>
          <a:lstStyle/>
          <a:p>
            <a:pPr algn="l"/>
            <a:r>
              <a:rPr sz="1200" b="0">
                <a:solidFill>
                  <a:srgbClr val="F5F5F5"/>
                </a:solidFill>
                <a:latin typeface="Calibri"/>
              </a:rPr>
              <a:t>In November 2023, Zambia finalised its G20 Common Framework restructuring deal — the first successful completion under this framework. Bilateral creditor agreements were implemented through 2024.</a:t>
            </a:r>
          </a:p>
          <a:p>
            <a:pPr algn="l"/>
            <a:r>
              <a:rPr sz="1200" b="0">
                <a:solidFill>
                  <a:srgbClr val="F5F5F5"/>
                </a:solidFill>
                <a:latin typeface="Calibri"/>
              </a:rPr>
              <a:t/>
            </a:r>
          </a:p>
          <a:p>
            <a:pPr algn="l"/>
            <a:r>
              <a:rPr sz="1200" b="0">
                <a:solidFill>
                  <a:srgbClr val="B0BEC5"/>
                </a:solidFill>
                <a:latin typeface="Calibri"/>
              </a:rPr>
              <a:t>The structural impact was immediate and measurable:</a:t>
            </a:r>
          </a:p>
          <a:p>
            <a:pPr algn="l"/>
            <a:r>
              <a:rPr sz="1200" b="0">
                <a:solidFill>
                  <a:srgbClr val="2ECC71"/>
                </a:solidFill>
                <a:latin typeface="Calibri"/>
              </a:rPr>
              <a:t>  •  PPG debt service fell from 12.5 % → 3 % of exports</a:t>
            </a:r>
          </a:p>
          <a:p>
            <a:pPr algn="l"/>
            <a:r>
              <a:rPr sz="1200" b="0">
                <a:solidFill>
                  <a:srgbClr val="2ECC71"/>
                </a:solidFill>
                <a:latin typeface="Calibri"/>
              </a:rPr>
              <a:t>  •  GDP growth held at 5.2–5.4 % even as copper prices cooled</a:t>
            </a:r>
          </a:p>
          <a:p>
            <a:pPr algn="l"/>
            <a:r>
              <a:rPr sz="1200" b="0">
                <a:solidFill>
                  <a:srgbClr val="2ECC71"/>
                </a:solidFill>
                <a:latin typeface="Calibri"/>
              </a:rPr>
              <a:t>  •  FDI inflows hit a decade-high of 9.32 % of GDP in 2024</a:t>
            </a:r>
          </a:p>
          <a:p>
            <a:pPr algn="l"/>
            <a:r>
              <a:rPr sz="1200" b="0">
                <a:solidFill>
                  <a:srgbClr val="F5F5F5"/>
                </a:solidFill>
                <a:latin typeface="Calibri"/>
              </a:rPr>
              <a:t/>
            </a:r>
          </a:p>
          <a:p>
            <a:pPr algn="l"/>
            <a:r>
              <a:rPr sz="1200" b="1">
                <a:solidFill>
                  <a:srgbClr val="F5F5F5"/>
                </a:solidFill>
                <a:latin typeface="Calibri"/>
              </a:rPr>
              <a:t>This is the key distinction: copper created fiscal space; restructuring institutionalised it.</a:t>
            </a:r>
          </a:p>
        </p:txBody>
      </p:sp>
      <p:sp>
        <p:nvSpPr>
          <p:cNvPr id="8" name="TextBox 7"/>
          <p:cNvSpPr txBox="1"/>
          <p:nvPr/>
        </p:nvSpPr>
        <p:spPr>
          <a:xfrm>
            <a:off x="6675120" y="1645920"/>
            <a:ext cx="5303520" cy="320040"/>
          </a:xfrm>
          <a:prstGeom prst="rect">
            <a:avLst/>
          </a:prstGeom>
          <a:noFill/>
        </p:spPr>
        <p:txBody>
          <a:bodyPr wrap="square">
            <a:spAutoFit/>
          </a:bodyPr>
          <a:lstStyle/>
          <a:p>
            <a:pPr algn="l"/>
            <a:r>
              <a:rPr sz="900" b="1" i="0">
                <a:solidFill>
                  <a:srgbClr val="B0BEC5"/>
                </a:solidFill>
                <a:latin typeface="Calibri"/>
              </a:rPr>
              <a:t>BEFORE vs AFTER RESTRUCTURING</a:t>
            </a:r>
          </a:p>
        </p:txBody>
      </p:sp>
      <p:sp>
        <p:nvSpPr>
          <p:cNvPr id="9" name="Rectangle 8"/>
          <p:cNvSpPr/>
          <p:nvPr/>
        </p:nvSpPr>
        <p:spPr>
          <a:xfrm>
            <a:off x="6675120" y="2057400"/>
            <a:ext cx="5349240" cy="7498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2103120"/>
            <a:ext cx="2103120" cy="320040"/>
          </a:xfrm>
          <a:prstGeom prst="rect">
            <a:avLst/>
          </a:prstGeom>
          <a:noFill/>
        </p:spPr>
        <p:txBody>
          <a:bodyPr wrap="square">
            <a:spAutoFit/>
          </a:bodyPr>
          <a:lstStyle/>
          <a:p>
            <a:pPr algn="l"/>
            <a:r>
              <a:rPr sz="900" b="0" i="0">
                <a:solidFill>
                  <a:srgbClr val="B0BEC5"/>
                </a:solidFill>
                <a:latin typeface="Calibri"/>
              </a:rPr>
              <a:t>PPG Debt Service / Exports</a:t>
            </a:r>
          </a:p>
        </p:txBody>
      </p:sp>
      <p:sp>
        <p:nvSpPr>
          <p:cNvPr id="11" name="TextBox 10"/>
          <p:cNvSpPr txBox="1"/>
          <p:nvPr/>
        </p:nvSpPr>
        <p:spPr>
          <a:xfrm>
            <a:off x="6766560" y="2423160"/>
            <a:ext cx="1828800" cy="320040"/>
          </a:xfrm>
          <a:prstGeom prst="rect">
            <a:avLst/>
          </a:prstGeom>
          <a:noFill/>
        </p:spPr>
        <p:txBody>
          <a:bodyPr wrap="square">
            <a:spAutoFit/>
          </a:bodyPr>
          <a:lstStyle/>
          <a:p>
            <a:pPr algn="l"/>
            <a:r>
              <a:rPr sz="1200" b="1" i="0">
                <a:solidFill>
                  <a:srgbClr val="E74C3C"/>
                </a:solidFill>
                <a:latin typeface="Calibri"/>
              </a:rPr>
              <a:t>12.5 %</a:t>
            </a:r>
          </a:p>
        </p:txBody>
      </p:sp>
      <p:sp>
        <p:nvSpPr>
          <p:cNvPr id="12" name="TextBox 11"/>
          <p:cNvSpPr txBox="1"/>
          <p:nvPr/>
        </p:nvSpPr>
        <p:spPr>
          <a:xfrm>
            <a:off x="9326880" y="2423160"/>
            <a:ext cx="2468880" cy="320040"/>
          </a:xfrm>
          <a:prstGeom prst="rect">
            <a:avLst/>
          </a:prstGeom>
          <a:noFill/>
        </p:spPr>
        <p:txBody>
          <a:bodyPr wrap="square">
            <a:spAutoFit/>
          </a:bodyPr>
          <a:lstStyle/>
          <a:p>
            <a:pPr algn="l"/>
            <a:r>
              <a:rPr sz="1200" b="1" i="0">
                <a:solidFill>
                  <a:srgbClr val="2ECC71"/>
                </a:solidFill>
                <a:latin typeface="Calibri"/>
              </a:rPr>
              <a:t>→  3.0 %</a:t>
            </a:r>
          </a:p>
        </p:txBody>
      </p:sp>
      <p:sp>
        <p:nvSpPr>
          <p:cNvPr id="13" name="Rectangle 12"/>
          <p:cNvSpPr/>
          <p:nvPr/>
        </p:nvSpPr>
        <p:spPr>
          <a:xfrm>
            <a:off x="6675120" y="2898648"/>
            <a:ext cx="5349240" cy="7498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2944368"/>
            <a:ext cx="2103120" cy="320040"/>
          </a:xfrm>
          <a:prstGeom prst="rect">
            <a:avLst/>
          </a:prstGeom>
          <a:noFill/>
        </p:spPr>
        <p:txBody>
          <a:bodyPr wrap="square">
            <a:spAutoFit/>
          </a:bodyPr>
          <a:lstStyle/>
          <a:p>
            <a:pPr algn="l"/>
            <a:r>
              <a:rPr sz="900" b="0" i="0">
                <a:solidFill>
                  <a:srgbClr val="B0BEC5"/>
                </a:solidFill>
                <a:latin typeface="Calibri"/>
              </a:rPr>
              <a:t>GDP Growth</a:t>
            </a:r>
          </a:p>
        </p:txBody>
      </p:sp>
      <p:sp>
        <p:nvSpPr>
          <p:cNvPr id="15" name="TextBox 14"/>
          <p:cNvSpPr txBox="1"/>
          <p:nvPr/>
        </p:nvSpPr>
        <p:spPr>
          <a:xfrm>
            <a:off x="6766560" y="3264408"/>
            <a:ext cx="1828800" cy="320040"/>
          </a:xfrm>
          <a:prstGeom prst="rect">
            <a:avLst/>
          </a:prstGeom>
          <a:noFill/>
        </p:spPr>
        <p:txBody>
          <a:bodyPr wrap="square">
            <a:spAutoFit/>
          </a:bodyPr>
          <a:lstStyle/>
          <a:p>
            <a:pPr algn="l"/>
            <a:r>
              <a:rPr sz="1200" b="1" i="0">
                <a:solidFill>
                  <a:srgbClr val="E74C3C"/>
                </a:solidFill>
                <a:latin typeface="Calibri"/>
              </a:rPr>
              <a:t>-2.8 %  (2020)</a:t>
            </a:r>
          </a:p>
        </p:txBody>
      </p:sp>
      <p:sp>
        <p:nvSpPr>
          <p:cNvPr id="16" name="TextBox 15"/>
          <p:cNvSpPr txBox="1"/>
          <p:nvPr/>
        </p:nvSpPr>
        <p:spPr>
          <a:xfrm>
            <a:off x="9326880" y="3264408"/>
            <a:ext cx="2468880" cy="320040"/>
          </a:xfrm>
          <a:prstGeom prst="rect">
            <a:avLst/>
          </a:prstGeom>
          <a:noFill/>
        </p:spPr>
        <p:txBody>
          <a:bodyPr wrap="square">
            <a:spAutoFit/>
          </a:bodyPr>
          <a:lstStyle/>
          <a:p>
            <a:pPr algn="l"/>
            <a:r>
              <a:rPr sz="1200" b="1" i="0">
                <a:solidFill>
                  <a:srgbClr val="2ECC71"/>
                </a:solidFill>
                <a:latin typeface="Calibri"/>
              </a:rPr>
              <a:t>→  5.3 %  (2024)</a:t>
            </a:r>
          </a:p>
        </p:txBody>
      </p:sp>
      <p:sp>
        <p:nvSpPr>
          <p:cNvPr id="17" name="Rectangle 16"/>
          <p:cNvSpPr/>
          <p:nvPr/>
        </p:nvSpPr>
        <p:spPr>
          <a:xfrm>
            <a:off x="6675120" y="3739896"/>
            <a:ext cx="5349240" cy="7498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3785616"/>
            <a:ext cx="2103120" cy="320040"/>
          </a:xfrm>
          <a:prstGeom prst="rect">
            <a:avLst/>
          </a:prstGeom>
          <a:noFill/>
        </p:spPr>
        <p:txBody>
          <a:bodyPr wrap="square">
            <a:spAutoFit/>
          </a:bodyPr>
          <a:lstStyle/>
          <a:p>
            <a:pPr algn="l"/>
            <a:r>
              <a:rPr sz="900" b="0" i="0">
                <a:solidFill>
                  <a:srgbClr val="B0BEC5"/>
                </a:solidFill>
                <a:latin typeface="Calibri"/>
              </a:rPr>
              <a:t>FDI Inflows (% GDP)</a:t>
            </a:r>
          </a:p>
        </p:txBody>
      </p:sp>
      <p:sp>
        <p:nvSpPr>
          <p:cNvPr id="19" name="TextBox 18"/>
          <p:cNvSpPr txBox="1"/>
          <p:nvPr/>
        </p:nvSpPr>
        <p:spPr>
          <a:xfrm>
            <a:off x="6766560" y="4105656"/>
            <a:ext cx="1828800" cy="320040"/>
          </a:xfrm>
          <a:prstGeom prst="rect">
            <a:avLst/>
          </a:prstGeom>
          <a:noFill/>
        </p:spPr>
        <p:txBody>
          <a:bodyPr wrap="square">
            <a:spAutoFit/>
          </a:bodyPr>
          <a:lstStyle/>
          <a:p>
            <a:pPr algn="l"/>
            <a:r>
              <a:rPr sz="1200" b="1" i="0">
                <a:solidFill>
                  <a:srgbClr val="E74C3C"/>
                </a:solidFill>
                <a:latin typeface="Calibri"/>
              </a:rPr>
              <a:t>1.8 %  (2020)</a:t>
            </a:r>
          </a:p>
        </p:txBody>
      </p:sp>
      <p:sp>
        <p:nvSpPr>
          <p:cNvPr id="20" name="TextBox 19"/>
          <p:cNvSpPr txBox="1"/>
          <p:nvPr/>
        </p:nvSpPr>
        <p:spPr>
          <a:xfrm>
            <a:off x="9326880" y="4105656"/>
            <a:ext cx="2468880" cy="320040"/>
          </a:xfrm>
          <a:prstGeom prst="rect">
            <a:avLst/>
          </a:prstGeom>
          <a:noFill/>
        </p:spPr>
        <p:txBody>
          <a:bodyPr wrap="square">
            <a:spAutoFit/>
          </a:bodyPr>
          <a:lstStyle/>
          <a:p>
            <a:pPr algn="l"/>
            <a:r>
              <a:rPr sz="1200" b="1" i="0">
                <a:solidFill>
                  <a:srgbClr val="2ECC71"/>
                </a:solidFill>
                <a:latin typeface="Calibri"/>
              </a:rPr>
              <a:t>→  9.32 %  (2024)</a:t>
            </a:r>
          </a:p>
        </p:txBody>
      </p:sp>
      <p:sp>
        <p:nvSpPr>
          <p:cNvPr id="21" name="Rectangle 20"/>
          <p:cNvSpPr/>
          <p:nvPr/>
        </p:nvSpPr>
        <p:spPr>
          <a:xfrm>
            <a:off x="6675120" y="4581144"/>
            <a:ext cx="5349240" cy="7498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4626864"/>
            <a:ext cx="2103120" cy="320040"/>
          </a:xfrm>
          <a:prstGeom prst="rect">
            <a:avLst/>
          </a:prstGeom>
          <a:noFill/>
        </p:spPr>
        <p:txBody>
          <a:bodyPr wrap="square">
            <a:spAutoFit/>
          </a:bodyPr>
          <a:lstStyle/>
          <a:p>
            <a:pPr algn="l"/>
            <a:r>
              <a:rPr sz="900" b="0" i="0">
                <a:solidFill>
                  <a:srgbClr val="B0BEC5"/>
                </a:solidFill>
                <a:latin typeface="Calibri"/>
              </a:rPr>
              <a:t>Investor Confidence</a:t>
            </a:r>
          </a:p>
        </p:txBody>
      </p:sp>
      <p:sp>
        <p:nvSpPr>
          <p:cNvPr id="23" name="TextBox 22"/>
          <p:cNvSpPr txBox="1"/>
          <p:nvPr/>
        </p:nvSpPr>
        <p:spPr>
          <a:xfrm>
            <a:off x="6766560" y="4946904"/>
            <a:ext cx="1828800" cy="320040"/>
          </a:xfrm>
          <a:prstGeom prst="rect">
            <a:avLst/>
          </a:prstGeom>
          <a:noFill/>
        </p:spPr>
        <p:txBody>
          <a:bodyPr wrap="square">
            <a:spAutoFit/>
          </a:bodyPr>
          <a:lstStyle/>
          <a:p>
            <a:pPr algn="l"/>
            <a:r>
              <a:rPr sz="1200" b="1" i="0">
                <a:solidFill>
                  <a:srgbClr val="E74C3C"/>
                </a:solidFill>
                <a:latin typeface="Calibri"/>
              </a:rPr>
              <a:t>Eurobond default</a:t>
            </a:r>
          </a:p>
        </p:txBody>
      </p:sp>
      <p:sp>
        <p:nvSpPr>
          <p:cNvPr id="24" name="TextBox 23"/>
          <p:cNvSpPr txBox="1"/>
          <p:nvPr/>
        </p:nvSpPr>
        <p:spPr>
          <a:xfrm>
            <a:off x="9326880" y="4946904"/>
            <a:ext cx="2468880" cy="320040"/>
          </a:xfrm>
          <a:prstGeom prst="rect">
            <a:avLst/>
          </a:prstGeom>
          <a:noFill/>
        </p:spPr>
        <p:txBody>
          <a:bodyPr wrap="square">
            <a:spAutoFit/>
          </a:bodyPr>
          <a:lstStyle/>
          <a:p>
            <a:pPr algn="l"/>
            <a:r>
              <a:rPr sz="1200" b="1" i="0">
                <a:solidFill>
                  <a:srgbClr val="2ECC71"/>
                </a:solidFill>
                <a:latin typeface="Calibri"/>
              </a:rPr>
              <a:t>→  Decade-high FDI</a:t>
            </a:r>
          </a:p>
        </p:txBody>
      </p:sp>
      <p:sp>
        <p:nvSpPr>
          <p:cNvPr id="25" name="TextBox 24"/>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8229600" cy="365760"/>
          </a:xfrm>
          <a:prstGeom prst="rect">
            <a:avLst/>
          </a:prstGeom>
          <a:noFill/>
        </p:spPr>
        <p:txBody>
          <a:bodyPr wrap="square">
            <a:spAutoFit/>
          </a:bodyPr>
          <a:lstStyle/>
          <a:p>
            <a:pPr algn="l"/>
            <a:r>
              <a:rPr sz="900" b="1" i="0">
                <a:solidFill>
                  <a:srgbClr val="E88C00"/>
                </a:solidFill>
                <a:latin typeface="Calibri"/>
              </a:rPr>
              <a:t>3-MINUTE STORY  ·  PART 4 OF 4  ·  THE EVIDENCE</a:t>
            </a:r>
          </a:p>
        </p:txBody>
      </p:sp>
      <p:sp>
        <p:nvSpPr>
          <p:cNvPr id="5" name="TextBox 4"/>
          <p:cNvSpPr txBox="1"/>
          <p:nvPr/>
        </p:nvSpPr>
        <p:spPr>
          <a:xfrm>
            <a:off x="457200" y="640080"/>
            <a:ext cx="10972800" cy="1005840"/>
          </a:xfrm>
          <a:prstGeom prst="rect">
            <a:avLst/>
          </a:prstGeom>
          <a:noFill/>
        </p:spPr>
        <p:txBody>
          <a:bodyPr wrap="square">
            <a:spAutoFit/>
          </a:bodyPr>
          <a:lstStyle/>
          <a:p>
            <a:pPr algn="l"/>
            <a:r>
              <a:rPr sz="2800" b="1">
                <a:solidFill>
                  <a:srgbClr val="F5F5F5"/>
                </a:solidFill>
                <a:latin typeface="Calibri"/>
              </a:rPr>
              <a:t>The Numbers Confirm the Verdict</a:t>
            </a:r>
          </a:p>
        </p:txBody>
      </p:sp>
      <p:sp>
        <p:nvSpPr>
          <p:cNvPr id="6" name="Rectangle 5"/>
          <p:cNvSpPr/>
          <p:nvPr/>
        </p:nvSpPr>
        <p:spPr>
          <a:xfrm>
            <a:off x="457200" y="1600200"/>
            <a:ext cx="11430000" cy="1905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74519"/>
            <a:ext cx="3749039"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65959"/>
            <a:ext cx="3566159" cy="411480"/>
          </a:xfrm>
          <a:prstGeom prst="rect">
            <a:avLst/>
          </a:prstGeom>
          <a:noFill/>
        </p:spPr>
        <p:txBody>
          <a:bodyPr wrap="square">
            <a:spAutoFit/>
          </a:bodyPr>
          <a:lstStyle/>
          <a:p>
            <a:pPr algn="ctr"/>
            <a:r>
              <a:rPr sz="1400" b="0" i="0">
                <a:solidFill>
                  <a:srgbClr val="B0BEC5"/>
                </a:solidFill>
                <a:latin typeface="Calibri"/>
              </a:rPr>
              <a:t>External Debt Peak</a:t>
            </a:r>
          </a:p>
        </p:txBody>
      </p:sp>
      <p:sp>
        <p:nvSpPr>
          <p:cNvPr id="9" name="TextBox 8"/>
          <p:cNvSpPr txBox="1"/>
          <p:nvPr/>
        </p:nvSpPr>
        <p:spPr>
          <a:xfrm>
            <a:off x="502920" y="2350007"/>
            <a:ext cx="3657599" cy="530352"/>
          </a:xfrm>
          <a:prstGeom prst="rect">
            <a:avLst/>
          </a:prstGeom>
          <a:noFill/>
        </p:spPr>
        <p:txBody>
          <a:bodyPr wrap="square">
            <a:spAutoFit/>
          </a:bodyPr>
          <a:lstStyle/>
          <a:p>
            <a:pPr algn="ctr"/>
            <a:r>
              <a:rPr sz="2400" b="1" i="0">
                <a:solidFill>
                  <a:srgbClr val="E74C3C"/>
                </a:solidFill>
                <a:latin typeface="Calibri"/>
              </a:rPr>
              <a:t>$29.1 B</a:t>
            </a:r>
          </a:p>
        </p:txBody>
      </p:sp>
      <p:sp>
        <p:nvSpPr>
          <p:cNvPr id="10" name="TextBox 9"/>
          <p:cNvSpPr txBox="1"/>
          <p:nvPr/>
        </p:nvSpPr>
        <p:spPr>
          <a:xfrm>
            <a:off x="548640" y="2862071"/>
            <a:ext cx="3566159" cy="384048"/>
          </a:xfrm>
          <a:prstGeom prst="rect">
            <a:avLst/>
          </a:prstGeom>
          <a:noFill/>
        </p:spPr>
        <p:txBody>
          <a:bodyPr wrap="square">
            <a:spAutoFit/>
          </a:bodyPr>
          <a:lstStyle/>
          <a:p>
            <a:pPr algn="ctr"/>
            <a:r>
              <a:rPr sz="1200" b="0" i="0">
                <a:solidFill>
                  <a:srgbClr val="B0BEC5"/>
                </a:solidFill>
                <a:latin typeface="Calibri"/>
              </a:rPr>
              <a:t>2019  (tripled in 4 yrs)</a:t>
            </a:r>
          </a:p>
        </p:txBody>
      </p:sp>
      <p:sp>
        <p:nvSpPr>
          <p:cNvPr id="11" name="Rectangle 10"/>
          <p:cNvSpPr/>
          <p:nvPr/>
        </p:nvSpPr>
        <p:spPr>
          <a:xfrm>
            <a:off x="4315967" y="1874519"/>
            <a:ext cx="3749039"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7" y="1965959"/>
            <a:ext cx="3566159" cy="411480"/>
          </a:xfrm>
          <a:prstGeom prst="rect">
            <a:avLst/>
          </a:prstGeom>
          <a:noFill/>
        </p:spPr>
        <p:txBody>
          <a:bodyPr wrap="square">
            <a:spAutoFit/>
          </a:bodyPr>
          <a:lstStyle/>
          <a:p>
            <a:pPr algn="ctr"/>
            <a:r>
              <a:rPr sz="1400" b="0" i="0">
                <a:solidFill>
                  <a:srgbClr val="B0BEC5"/>
                </a:solidFill>
                <a:latin typeface="Calibri"/>
              </a:rPr>
              <a:t>Current Account Swing</a:t>
            </a:r>
          </a:p>
        </p:txBody>
      </p:sp>
      <p:sp>
        <p:nvSpPr>
          <p:cNvPr id="13" name="TextBox 12"/>
          <p:cNvSpPr txBox="1"/>
          <p:nvPr/>
        </p:nvSpPr>
        <p:spPr>
          <a:xfrm>
            <a:off x="4361687" y="2350007"/>
            <a:ext cx="3657599" cy="530352"/>
          </a:xfrm>
          <a:prstGeom prst="rect">
            <a:avLst/>
          </a:prstGeom>
          <a:noFill/>
        </p:spPr>
        <p:txBody>
          <a:bodyPr wrap="square">
            <a:spAutoFit/>
          </a:bodyPr>
          <a:lstStyle/>
          <a:p>
            <a:pPr algn="ctr"/>
            <a:r>
              <a:rPr sz="2400" b="1" i="0">
                <a:solidFill>
                  <a:srgbClr val="2ECC71"/>
                </a:solidFill>
                <a:latin typeface="Calibri"/>
              </a:rPr>
              <a:t>+15.5 pp</a:t>
            </a:r>
          </a:p>
        </p:txBody>
      </p:sp>
      <p:sp>
        <p:nvSpPr>
          <p:cNvPr id="14" name="TextBox 13"/>
          <p:cNvSpPr txBox="1"/>
          <p:nvPr/>
        </p:nvSpPr>
        <p:spPr>
          <a:xfrm>
            <a:off x="4407407" y="2862071"/>
            <a:ext cx="3566159" cy="384048"/>
          </a:xfrm>
          <a:prstGeom prst="rect">
            <a:avLst/>
          </a:prstGeom>
          <a:noFill/>
        </p:spPr>
        <p:txBody>
          <a:bodyPr wrap="square">
            <a:spAutoFit/>
          </a:bodyPr>
          <a:lstStyle/>
          <a:p>
            <a:pPr algn="ctr"/>
            <a:r>
              <a:rPr sz="1200" b="0" i="0">
                <a:solidFill>
                  <a:srgbClr val="B0BEC5"/>
                </a:solidFill>
                <a:latin typeface="Calibri"/>
              </a:rPr>
              <a:t>from -3.6% to +11.9% GDP</a:t>
            </a:r>
          </a:p>
        </p:txBody>
      </p:sp>
      <p:sp>
        <p:nvSpPr>
          <p:cNvPr id="15" name="Rectangle 14"/>
          <p:cNvSpPr/>
          <p:nvPr/>
        </p:nvSpPr>
        <p:spPr>
          <a:xfrm>
            <a:off x="8174734" y="1874519"/>
            <a:ext cx="3749039"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4" y="1965959"/>
            <a:ext cx="3566159" cy="411480"/>
          </a:xfrm>
          <a:prstGeom prst="rect">
            <a:avLst/>
          </a:prstGeom>
          <a:noFill/>
        </p:spPr>
        <p:txBody>
          <a:bodyPr wrap="square">
            <a:spAutoFit/>
          </a:bodyPr>
          <a:lstStyle/>
          <a:p>
            <a:pPr algn="ctr"/>
            <a:r>
              <a:rPr sz="1400" b="0" i="0">
                <a:solidFill>
                  <a:srgbClr val="B0BEC5"/>
                </a:solidFill>
                <a:latin typeface="Calibri"/>
              </a:rPr>
              <a:t>IMF ECF Approved</a:t>
            </a:r>
          </a:p>
        </p:txBody>
      </p:sp>
      <p:sp>
        <p:nvSpPr>
          <p:cNvPr id="17" name="TextBox 16"/>
          <p:cNvSpPr txBox="1"/>
          <p:nvPr/>
        </p:nvSpPr>
        <p:spPr>
          <a:xfrm>
            <a:off x="8220454" y="2350007"/>
            <a:ext cx="3657599" cy="530352"/>
          </a:xfrm>
          <a:prstGeom prst="rect">
            <a:avLst/>
          </a:prstGeom>
          <a:noFill/>
        </p:spPr>
        <p:txBody>
          <a:bodyPr wrap="square">
            <a:spAutoFit/>
          </a:bodyPr>
          <a:lstStyle/>
          <a:p>
            <a:pPr algn="ctr"/>
            <a:r>
              <a:rPr sz="2400" b="1" i="0">
                <a:solidFill>
                  <a:srgbClr val="E88C00"/>
                </a:solidFill>
                <a:latin typeface="Calibri"/>
              </a:rPr>
              <a:t>$1.3 B</a:t>
            </a:r>
          </a:p>
        </p:txBody>
      </p:sp>
      <p:sp>
        <p:nvSpPr>
          <p:cNvPr id="18" name="TextBox 17"/>
          <p:cNvSpPr txBox="1"/>
          <p:nvPr/>
        </p:nvSpPr>
        <p:spPr>
          <a:xfrm>
            <a:off x="8266174" y="2862071"/>
            <a:ext cx="3566159" cy="384048"/>
          </a:xfrm>
          <a:prstGeom prst="rect">
            <a:avLst/>
          </a:prstGeom>
          <a:noFill/>
        </p:spPr>
        <p:txBody>
          <a:bodyPr wrap="square">
            <a:spAutoFit/>
          </a:bodyPr>
          <a:lstStyle/>
          <a:p>
            <a:pPr algn="ctr"/>
            <a:r>
              <a:rPr sz="1200" b="0" i="0">
                <a:solidFill>
                  <a:srgbClr val="B0BEC5"/>
                </a:solidFill>
                <a:latin typeface="Calibri"/>
              </a:rPr>
              <a:t>2022 facility</a:t>
            </a:r>
          </a:p>
        </p:txBody>
      </p:sp>
      <p:sp>
        <p:nvSpPr>
          <p:cNvPr id="19" name="Rectangle 18"/>
          <p:cNvSpPr/>
          <p:nvPr/>
        </p:nvSpPr>
        <p:spPr>
          <a:xfrm>
            <a:off x="457200" y="3566159"/>
            <a:ext cx="3749039"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57599"/>
            <a:ext cx="3566159" cy="411480"/>
          </a:xfrm>
          <a:prstGeom prst="rect">
            <a:avLst/>
          </a:prstGeom>
          <a:noFill/>
        </p:spPr>
        <p:txBody>
          <a:bodyPr wrap="square">
            <a:spAutoFit/>
          </a:bodyPr>
          <a:lstStyle/>
          <a:p>
            <a:pPr algn="ctr"/>
            <a:r>
              <a:rPr sz="1400" b="0" i="0">
                <a:solidFill>
                  <a:srgbClr val="B0BEC5"/>
                </a:solidFill>
                <a:latin typeface="Calibri"/>
              </a:rPr>
              <a:t>PPG Debt Service
(post-deal)</a:t>
            </a:r>
          </a:p>
        </p:txBody>
      </p:sp>
      <p:sp>
        <p:nvSpPr>
          <p:cNvPr id="21" name="TextBox 20"/>
          <p:cNvSpPr txBox="1"/>
          <p:nvPr/>
        </p:nvSpPr>
        <p:spPr>
          <a:xfrm>
            <a:off x="502920" y="4041647"/>
            <a:ext cx="3657599" cy="530352"/>
          </a:xfrm>
          <a:prstGeom prst="rect">
            <a:avLst/>
          </a:prstGeom>
          <a:noFill/>
        </p:spPr>
        <p:txBody>
          <a:bodyPr wrap="square">
            <a:spAutoFit/>
          </a:bodyPr>
          <a:lstStyle/>
          <a:p>
            <a:pPr algn="ctr"/>
            <a:r>
              <a:rPr sz="2400" b="1" i="0">
                <a:solidFill>
                  <a:srgbClr val="2ECC71"/>
                </a:solidFill>
                <a:latin typeface="Calibri"/>
              </a:rPr>
              <a:t>3.0 %</a:t>
            </a:r>
          </a:p>
        </p:txBody>
      </p:sp>
      <p:sp>
        <p:nvSpPr>
          <p:cNvPr id="22" name="TextBox 21"/>
          <p:cNvSpPr txBox="1"/>
          <p:nvPr/>
        </p:nvSpPr>
        <p:spPr>
          <a:xfrm>
            <a:off x="548640" y="4553711"/>
            <a:ext cx="3566159" cy="384048"/>
          </a:xfrm>
          <a:prstGeom prst="rect">
            <a:avLst/>
          </a:prstGeom>
          <a:noFill/>
        </p:spPr>
        <p:txBody>
          <a:bodyPr wrap="square">
            <a:spAutoFit/>
          </a:bodyPr>
          <a:lstStyle/>
          <a:p>
            <a:pPr algn="ctr"/>
            <a:r>
              <a:rPr sz="1200" b="0" i="0">
                <a:solidFill>
                  <a:srgbClr val="B0BEC5"/>
                </a:solidFill>
                <a:latin typeface="Calibri"/>
              </a:rPr>
              <a:t>down from 12.5% of exports</a:t>
            </a:r>
          </a:p>
        </p:txBody>
      </p:sp>
      <p:sp>
        <p:nvSpPr>
          <p:cNvPr id="23" name="Rectangle 22"/>
          <p:cNvSpPr/>
          <p:nvPr/>
        </p:nvSpPr>
        <p:spPr>
          <a:xfrm>
            <a:off x="4315967" y="3566159"/>
            <a:ext cx="3749039"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7" y="3657599"/>
            <a:ext cx="3566159" cy="411480"/>
          </a:xfrm>
          <a:prstGeom prst="rect">
            <a:avLst/>
          </a:prstGeom>
          <a:noFill/>
        </p:spPr>
        <p:txBody>
          <a:bodyPr wrap="square">
            <a:spAutoFit/>
          </a:bodyPr>
          <a:lstStyle/>
          <a:p>
            <a:pPr algn="ctr"/>
            <a:r>
              <a:rPr sz="1400" b="0" i="0">
                <a:solidFill>
                  <a:srgbClr val="B0BEC5"/>
                </a:solidFill>
                <a:latin typeface="Calibri"/>
              </a:rPr>
              <a:t>GDP Growth (2024)</a:t>
            </a:r>
          </a:p>
        </p:txBody>
      </p:sp>
      <p:sp>
        <p:nvSpPr>
          <p:cNvPr id="25" name="TextBox 24"/>
          <p:cNvSpPr txBox="1"/>
          <p:nvPr/>
        </p:nvSpPr>
        <p:spPr>
          <a:xfrm>
            <a:off x="4361687" y="4041647"/>
            <a:ext cx="3657599" cy="530352"/>
          </a:xfrm>
          <a:prstGeom prst="rect">
            <a:avLst/>
          </a:prstGeom>
          <a:noFill/>
        </p:spPr>
        <p:txBody>
          <a:bodyPr wrap="square">
            <a:spAutoFit/>
          </a:bodyPr>
          <a:lstStyle/>
          <a:p>
            <a:pPr algn="ctr"/>
            <a:r>
              <a:rPr sz="2400" b="1" i="0">
                <a:solidFill>
                  <a:srgbClr val="2ECC71"/>
                </a:solidFill>
                <a:latin typeface="Calibri"/>
              </a:rPr>
              <a:t>5.3 %</a:t>
            </a:r>
          </a:p>
        </p:txBody>
      </p:sp>
      <p:sp>
        <p:nvSpPr>
          <p:cNvPr id="26" name="TextBox 25"/>
          <p:cNvSpPr txBox="1"/>
          <p:nvPr/>
        </p:nvSpPr>
        <p:spPr>
          <a:xfrm>
            <a:off x="4407407" y="4553711"/>
            <a:ext cx="3566159" cy="384048"/>
          </a:xfrm>
          <a:prstGeom prst="rect">
            <a:avLst/>
          </a:prstGeom>
          <a:noFill/>
        </p:spPr>
        <p:txBody>
          <a:bodyPr wrap="square">
            <a:spAutoFit/>
          </a:bodyPr>
          <a:lstStyle/>
          <a:p>
            <a:pPr algn="ctr"/>
            <a:r>
              <a:rPr sz="1200" b="0" i="0">
                <a:solidFill>
                  <a:srgbClr val="B0BEC5"/>
                </a:solidFill>
                <a:latin typeface="Calibri"/>
              </a:rPr>
              <a:t>sustained as Cu prices cooled</a:t>
            </a:r>
          </a:p>
        </p:txBody>
      </p:sp>
      <p:sp>
        <p:nvSpPr>
          <p:cNvPr id="27" name="Rectangle 26"/>
          <p:cNvSpPr/>
          <p:nvPr/>
        </p:nvSpPr>
        <p:spPr>
          <a:xfrm>
            <a:off x="8174734" y="3566159"/>
            <a:ext cx="3749039" cy="14173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4" y="3657599"/>
            <a:ext cx="3566159" cy="411480"/>
          </a:xfrm>
          <a:prstGeom prst="rect">
            <a:avLst/>
          </a:prstGeom>
          <a:noFill/>
        </p:spPr>
        <p:txBody>
          <a:bodyPr wrap="square">
            <a:spAutoFit/>
          </a:bodyPr>
          <a:lstStyle/>
          <a:p>
            <a:pPr algn="ctr"/>
            <a:r>
              <a:rPr sz="1400" b="0" i="0">
                <a:solidFill>
                  <a:srgbClr val="B0BEC5"/>
                </a:solidFill>
                <a:latin typeface="Calibri"/>
              </a:rPr>
              <a:t>FDI Inflows (2024)</a:t>
            </a:r>
          </a:p>
        </p:txBody>
      </p:sp>
      <p:sp>
        <p:nvSpPr>
          <p:cNvPr id="29" name="TextBox 28"/>
          <p:cNvSpPr txBox="1"/>
          <p:nvPr/>
        </p:nvSpPr>
        <p:spPr>
          <a:xfrm>
            <a:off x="8220454" y="4041647"/>
            <a:ext cx="3657599" cy="530352"/>
          </a:xfrm>
          <a:prstGeom prst="rect">
            <a:avLst/>
          </a:prstGeom>
          <a:noFill/>
        </p:spPr>
        <p:txBody>
          <a:bodyPr wrap="square">
            <a:spAutoFit/>
          </a:bodyPr>
          <a:lstStyle/>
          <a:p>
            <a:pPr algn="ctr"/>
            <a:r>
              <a:rPr sz="2400" b="1" i="0">
                <a:solidFill>
                  <a:srgbClr val="E88C00"/>
                </a:solidFill>
                <a:latin typeface="Calibri"/>
              </a:rPr>
              <a:t>9.32 %</a:t>
            </a:r>
          </a:p>
        </p:txBody>
      </p:sp>
      <p:sp>
        <p:nvSpPr>
          <p:cNvPr id="30" name="TextBox 29"/>
          <p:cNvSpPr txBox="1"/>
          <p:nvPr/>
        </p:nvSpPr>
        <p:spPr>
          <a:xfrm>
            <a:off x="8266174" y="4553711"/>
            <a:ext cx="3566159" cy="384048"/>
          </a:xfrm>
          <a:prstGeom prst="rect">
            <a:avLst/>
          </a:prstGeom>
          <a:noFill/>
        </p:spPr>
        <p:txBody>
          <a:bodyPr wrap="square">
            <a:spAutoFit/>
          </a:bodyPr>
          <a:lstStyle/>
          <a:p>
            <a:pPr algn="ctr"/>
            <a:r>
              <a:rPr sz="1200" b="0" i="0">
                <a:solidFill>
                  <a:srgbClr val="B0BEC5"/>
                </a:solidFill>
                <a:latin typeface="Calibri"/>
              </a:rPr>
              <a:t>decade high, % of GDP</a:t>
            </a:r>
          </a:p>
        </p:txBody>
      </p:sp>
      <p:sp>
        <p:nvSpPr>
          <p:cNvPr id="31" name="TextBox 30"/>
          <p:cNvSpPr txBox="1"/>
          <p:nvPr/>
        </p:nvSpPr>
        <p:spPr>
          <a:xfrm>
            <a:off x="457200" y="5989320"/>
            <a:ext cx="10972800" cy="502920"/>
          </a:xfrm>
          <a:prstGeom prst="rect">
            <a:avLst/>
          </a:prstGeom>
          <a:noFill/>
        </p:spPr>
        <p:txBody>
          <a:bodyPr wrap="square">
            <a:spAutoFit/>
          </a:bodyPr>
          <a:lstStyle/>
          <a:p>
            <a:pPr algn="l"/>
            <a:r>
              <a:rPr sz="800" b="0" i="0">
                <a:solidFill>
                  <a:srgbClr val="B0BEC5"/>
                </a:solidFill>
                <a:latin typeface="Calibri"/>
              </a:rPr>
              <a:t>Sources: World Bank WDI · IMF World Economic Outlook · Bank of Zambia · Ministry of Finance — Report on the Economy 2025</a:t>
            </a:r>
          </a:p>
        </p:txBody>
      </p:sp>
      <p:sp>
        <p:nvSpPr>
          <p:cNvPr id="32" name="TextBox 31"/>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8229600" cy="365760"/>
          </a:xfrm>
          <a:prstGeom prst="rect">
            <a:avLst/>
          </a:prstGeom>
          <a:noFill/>
        </p:spPr>
        <p:txBody>
          <a:bodyPr wrap="square">
            <a:spAutoFit/>
          </a:bodyPr>
          <a:lstStyle/>
          <a:p>
            <a:pPr algn="l"/>
            <a:r>
              <a:rPr sz="900" b="1" i="0">
                <a:solidFill>
                  <a:srgbClr val="E88C00"/>
                </a:solidFill>
                <a:latin typeface="Calibri"/>
              </a:rPr>
              <a:t>DATA EVIDENCE  ·  CHARTS</a:t>
            </a:r>
          </a:p>
        </p:txBody>
      </p:sp>
      <p:sp>
        <p:nvSpPr>
          <p:cNvPr id="5" name="TextBox 4"/>
          <p:cNvSpPr txBox="1"/>
          <p:nvPr/>
        </p:nvSpPr>
        <p:spPr>
          <a:xfrm>
            <a:off x="457200" y="594360"/>
            <a:ext cx="11430000" cy="731520"/>
          </a:xfrm>
          <a:prstGeom prst="rect">
            <a:avLst/>
          </a:prstGeom>
          <a:noFill/>
        </p:spPr>
        <p:txBody>
          <a:bodyPr wrap="square">
            <a:spAutoFit/>
          </a:bodyPr>
          <a:lstStyle/>
          <a:p>
            <a:pPr algn="l"/>
            <a:r>
              <a:rPr sz="2200" b="1">
                <a:solidFill>
                  <a:srgbClr val="F5F5F5"/>
                </a:solidFill>
                <a:latin typeface="Calibri"/>
              </a:rPr>
              <a:t>GDP Growth &amp; FDI Inflows: The Recovery Visualised</a:t>
            </a:r>
          </a:p>
        </p:txBody>
      </p:sp>
      <p:sp>
        <p:nvSpPr>
          <p:cNvPr id="6" name="Rectangle 5"/>
          <p:cNvSpPr/>
          <p:nvPr/>
        </p:nvSpPr>
        <p:spPr>
          <a:xfrm>
            <a:off x="457200" y="1353312"/>
            <a:ext cx="11430000" cy="19050"/>
          </a:xfrm>
          <a:prstGeom prst="rect">
            <a:avLst/>
          </a:prstGeom>
          <a:solidFill>
            <a:srgbClr val="E8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44752"/>
            <a:ext cx="11247120" cy="384048"/>
          </a:xfrm>
          <a:prstGeom prst="rect">
            <a:avLst/>
          </a:prstGeom>
          <a:noFill/>
        </p:spPr>
        <p:txBody>
          <a:bodyPr wrap="square">
            <a:spAutoFit/>
          </a:bodyPr>
          <a:lstStyle/>
          <a:p>
            <a:pPr algn="l"/>
            <a:r>
              <a:rPr sz="900" b="0" i="0">
                <a:solidFill>
                  <a:srgbClr val="B0BEC5"/>
                </a:solidFill>
                <a:latin typeface="Calibri"/>
              </a:rPr>
              <a:t>GDP contracted sharply in 2020 but rebounded within a year — and sustained 5 %+ growth even as copper prices cooled post-2021. FDI hit its lowest point at the 2020 default, then climbed to a decade-high 9.32 % in 2024 — the year bilateral restructuring agreements were fully implemented, confirming restored investor confidence.</a:t>
            </a:r>
          </a:p>
        </p:txBody>
      </p:sp>
      <p:sp>
        <p:nvSpPr>
          <p:cNvPr id="8" name="TextBox 7"/>
          <p:cNvSpPr txBox="1"/>
          <p:nvPr/>
        </p:nvSpPr>
        <p:spPr>
          <a:xfrm>
            <a:off x="457200" y="1901952"/>
            <a:ext cx="5669280" cy="256032"/>
          </a:xfrm>
          <a:prstGeom prst="rect">
            <a:avLst/>
          </a:prstGeom>
          <a:noFill/>
        </p:spPr>
        <p:txBody>
          <a:bodyPr wrap="square">
            <a:spAutoFit/>
          </a:bodyPr>
          <a:lstStyle/>
          <a:p>
            <a:pPr algn="l"/>
            <a:r>
              <a:rPr sz="800" b="1" i="0">
                <a:solidFill>
                  <a:srgbClr val="B0BEC5"/>
                </a:solidFill>
                <a:latin typeface="Calibri"/>
              </a:rPr>
              <a:t>GDP GROWTH  (% annual)  ·  2015–2024  ·  Red = contraction  |  Green = recovery</a:t>
            </a:r>
          </a:p>
        </p:txBody>
      </p:sp>
      <p:sp>
        <p:nvSpPr>
          <p:cNvPr id="9" name="Rectangle 8"/>
          <p:cNvSpPr/>
          <p:nvPr/>
        </p:nvSpPr>
        <p:spPr>
          <a:xfrm>
            <a:off x="457200" y="2176272"/>
            <a:ext cx="5669280"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457200" y="2176272"/>
          <a:ext cx="5669280" cy="3474720"/>
        </p:xfrm>
        <a:graphic>
          <a:graphicData uri="http://schemas.openxmlformats.org/drawingml/2006/chart">
            <c:chart xmlns:c="http://schemas.openxmlformats.org/drawingml/2006/chart" r:id="rId2"/>
          </a:graphicData>
        </a:graphic>
      </p:graphicFrame>
      <p:sp>
        <p:nvSpPr>
          <p:cNvPr id="11" name="TextBox 10"/>
          <p:cNvSpPr txBox="1"/>
          <p:nvPr/>
        </p:nvSpPr>
        <p:spPr>
          <a:xfrm>
            <a:off x="457200" y="5669280"/>
            <a:ext cx="5669280" cy="292608"/>
          </a:xfrm>
          <a:prstGeom prst="rect">
            <a:avLst/>
          </a:prstGeom>
          <a:noFill/>
        </p:spPr>
        <p:txBody>
          <a:bodyPr wrap="square">
            <a:spAutoFit/>
          </a:bodyPr>
          <a:lstStyle/>
          <a:p>
            <a:pPr algn="l"/>
            <a:r>
              <a:rPr sz="800" b="0" i="1">
                <a:solidFill>
                  <a:srgbClr val="B0BEC5"/>
                </a:solidFill>
                <a:latin typeface="Calibri"/>
              </a:rPr>
              <a:t>GDP fell -2.8 % in 2020 (COVID + default) before recovering to 4.6 % in 2021 and holding at 5.3 % in 2024 despite softer copper prices.</a:t>
            </a:r>
          </a:p>
        </p:txBody>
      </p:sp>
      <p:sp>
        <p:nvSpPr>
          <p:cNvPr id="12" name="TextBox 11"/>
          <p:cNvSpPr txBox="1"/>
          <p:nvPr/>
        </p:nvSpPr>
        <p:spPr>
          <a:xfrm>
            <a:off x="6400800" y="1901952"/>
            <a:ext cx="5486400" cy="256032"/>
          </a:xfrm>
          <a:prstGeom prst="rect">
            <a:avLst/>
          </a:prstGeom>
          <a:noFill/>
        </p:spPr>
        <p:txBody>
          <a:bodyPr wrap="square">
            <a:spAutoFit/>
          </a:bodyPr>
          <a:lstStyle/>
          <a:p>
            <a:pPr algn="l"/>
            <a:r>
              <a:rPr sz="800" b="1" i="0">
                <a:solidFill>
                  <a:srgbClr val="B0BEC5"/>
                </a:solidFill>
                <a:latin typeface="Calibri"/>
              </a:rPr>
              <a:t>FDI NET INFLOWS  (% of GDP)  ·  2015–2024  ·  Red = decade-low  |  Green = decade-high</a:t>
            </a:r>
          </a:p>
        </p:txBody>
      </p:sp>
      <p:sp>
        <p:nvSpPr>
          <p:cNvPr id="13" name="Rectangle 12"/>
          <p:cNvSpPr/>
          <p:nvPr/>
        </p:nvSpPr>
        <p:spPr>
          <a:xfrm>
            <a:off x="6400800" y="2176272"/>
            <a:ext cx="5486400"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Chart 13"/>
          <p:cNvGraphicFramePr>
            <a:graphicFrameLocks noGrp="1"/>
          </p:cNvGraphicFramePr>
          <p:nvPr/>
        </p:nvGraphicFramePr>
        <p:xfrm>
          <a:off x="6400800" y="2176272"/>
          <a:ext cx="5486400" cy="3474720"/>
        </p:xfrm>
        <a:graphic>
          <a:graphicData uri="http://schemas.openxmlformats.org/drawingml/2006/chart">
            <c:chart xmlns:c="http://schemas.openxmlformats.org/drawingml/2006/chart" r:id="rId3"/>
          </a:graphicData>
        </a:graphic>
      </p:graphicFrame>
      <p:sp>
        <p:nvSpPr>
          <p:cNvPr id="15" name="TextBox 14"/>
          <p:cNvSpPr txBox="1"/>
          <p:nvPr/>
        </p:nvSpPr>
        <p:spPr>
          <a:xfrm>
            <a:off x="6400800" y="5669280"/>
            <a:ext cx="5486400" cy="292608"/>
          </a:xfrm>
          <a:prstGeom prst="rect">
            <a:avLst/>
          </a:prstGeom>
          <a:noFill/>
        </p:spPr>
        <p:txBody>
          <a:bodyPr wrap="square">
            <a:spAutoFit/>
          </a:bodyPr>
          <a:lstStyle/>
          <a:p>
            <a:pPr algn="l"/>
            <a:r>
              <a:rPr sz="800" b="0" i="1">
                <a:solidFill>
                  <a:srgbClr val="B0BEC5"/>
                </a:solidFill>
                <a:latin typeface="Calibri"/>
              </a:rPr>
              <a:t>FDI bottomed at 1.9 % in 2020 then surged to 9.32 % in 2024 — the year G20 bilateral restructuring agreements were implemented.</a:t>
            </a:r>
          </a:p>
        </p:txBody>
      </p:sp>
      <p:sp>
        <p:nvSpPr>
          <p:cNvPr id="16" name="TextBox 15"/>
          <p:cNvSpPr txBox="1"/>
          <p:nvPr/>
        </p:nvSpPr>
        <p:spPr>
          <a:xfrm>
            <a:off x="457200" y="6236208"/>
            <a:ext cx="10972800" cy="365760"/>
          </a:xfrm>
          <a:prstGeom prst="rect">
            <a:avLst/>
          </a:prstGeom>
          <a:noFill/>
        </p:spPr>
        <p:txBody>
          <a:bodyPr wrap="square">
            <a:spAutoFit/>
          </a:bodyPr>
          <a:lstStyle/>
          <a:p>
            <a:pPr algn="l"/>
            <a:r>
              <a:rPr sz="800" b="0" i="0">
                <a:solidFill>
                  <a:srgbClr val="B0BEC5"/>
                </a:solidFill>
                <a:latin typeface="Calibri"/>
              </a:rPr>
              <a:t>Sources: World Bank WDI · IMF WEO · Bank of Zambia · Ministry of Finance — Report on the Economy 2025</a:t>
            </a:r>
          </a:p>
        </p:txBody>
      </p:sp>
      <p:sp>
        <p:nvSpPr>
          <p:cNvPr id="17" name="TextBox 16"/>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8229600" cy="365760"/>
          </a:xfrm>
          <a:prstGeom prst="rect">
            <a:avLst/>
          </a:prstGeom>
          <a:noFill/>
        </p:spPr>
        <p:txBody>
          <a:bodyPr wrap="square">
            <a:spAutoFit/>
          </a:bodyPr>
          <a:lstStyle/>
          <a:p>
            <a:pPr algn="l"/>
            <a:r>
              <a:rPr sz="900" b="1" i="0">
                <a:solidFill>
                  <a:srgbClr val="2ECC71"/>
                </a:solidFill>
                <a:latin typeface="Calibri"/>
              </a:rPr>
              <a:t>CONCLUSION  ·  THE VERDICT</a:t>
            </a:r>
          </a:p>
        </p:txBody>
      </p:sp>
      <p:sp>
        <p:nvSpPr>
          <p:cNvPr id="5" name="TextBox 4"/>
          <p:cNvSpPr txBox="1"/>
          <p:nvPr/>
        </p:nvSpPr>
        <p:spPr>
          <a:xfrm>
            <a:off x="457200" y="640080"/>
            <a:ext cx="11430000" cy="1097280"/>
          </a:xfrm>
          <a:prstGeom prst="rect">
            <a:avLst/>
          </a:prstGeom>
          <a:noFill/>
        </p:spPr>
        <p:txBody>
          <a:bodyPr wrap="square">
            <a:spAutoFit/>
          </a:bodyPr>
          <a:lstStyle/>
          <a:p>
            <a:pPr algn="l"/>
            <a:r>
              <a:rPr sz="2600" b="1">
                <a:solidFill>
                  <a:srgbClr val="F5F5F5"/>
                </a:solidFill>
                <a:latin typeface="Calibri"/>
              </a:rPr>
              <a:t>Both Were Necessary — Neither Was Sufficient Alone</a:t>
            </a:r>
          </a:p>
        </p:txBody>
      </p:sp>
      <p:sp>
        <p:nvSpPr>
          <p:cNvPr id="6" name="Rectangle 5"/>
          <p:cNvSpPr/>
          <p:nvPr/>
        </p:nvSpPr>
        <p:spPr>
          <a:xfrm>
            <a:off x="457200" y="1691640"/>
            <a:ext cx="11247120" cy="1905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20240"/>
            <a:ext cx="5486400" cy="411480"/>
          </a:xfrm>
          <a:prstGeom prst="rect">
            <a:avLst/>
          </a:prstGeom>
          <a:noFill/>
        </p:spPr>
        <p:txBody>
          <a:bodyPr wrap="square">
            <a:spAutoFit/>
          </a:bodyPr>
          <a:lstStyle/>
          <a:p>
            <a:pPr algn="l"/>
            <a:r>
              <a:rPr sz="1100" b="1" i="0">
                <a:solidFill>
                  <a:srgbClr val="E88C00"/>
                </a:solidFill>
                <a:latin typeface="Calibri"/>
              </a:rPr>
              <a:t>COPPER PROVIDED THE WINDFALL</a:t>
            </a:r>
          </a:p>
        </p:txBody>
      </p:sp>
      <p:sp>
        <p:nvSpPr>
          <p:cNvPr id="8" name="TextBox 7"/>
          <p:cNvSpPr txBox="1"/>
          <p:nvPr/>
        </p:nvSpPr>
        <p:spPr>
          <a:xfrm>
            <a:off x="457200" y="2377440"/>
            <a:ext cx="5623560" cy="2743200"/>
          </a:xfrm>
          <a:prstGeom prst="rect">
            <a:avLst/>
          </a:prstGeom>
          <a:noFill/>
        </p:spPr>
        <p:txBody>
          <a:bodyPr wrap="square">
            <a:spAutoFit/>
          </a:bodyPr>
          <a:lstStyle/>
          <a:p>
            <a:pPr algn="l"/>
            <a:r>
              <a:rPr sz="1100" b="0" i="0">
                <a:solidFill>
                  <a:srgbClr val="F5F5F5"/>
                </a:solidFill>
                <a:latin typeface="Calibri"/>
              </a:rPr>
              <a:t>The global copper price supercycle of 2021 handed Zambia a fiscal windfall: the current account swung by +15.5 percentage points and exports surged. This created the fiscal space that made restructuring politically viable and economically credible.
Without the copper boom, there would have been nothing to restructure toward — and no creditors willing to take a haircut on a country with no revenue trajectory.</a:t>
            </a:r>
          </a:p>
        </p:txBody>
      </p:sp>
      <p:sp>
        <p:nvSpPr>
          <p:cNvPr id="9" name="TextBox 8"/>
          <p:cNvSpPr txBox="1"/>
          <p:nvPr/>
        </p:nvSpPr>
        <p:spPr>
          <a:xfrm>
            <a:off x="6400800" y="1920240"/>
            <a:ext cx="5486400" cy="411480"/>
          </a:xfrm>
          <a:prstGeom prst="rect">
            <a:avLst/>
          </a:prstGeom>
          <a:noFill/>
        </p:spPr>
        <p:txBody>
          <a:bodyPr wrap="square">
            <a:spAutoFit/>
          </a:bodyPr>
          <a:lstStyle/>
          <a:p>
            <a:pPr algn="l"/>
            <a:r>
              <a:rPr sz="1100" b="1" i="0">
                <a:solidFill>
                  <a:srgbClr val="2ECC71"/>
                </a:solidFill>
                <a:latin typeface="Calibri"/>
              </a:rPr>
              <a:t>RESTRUCTURING MADE IT DURABLE</a:t>
            </a:r>
          </a:p>
        </p:txBody>
      </p:sp>
      <p:sp>
        <p:nvSpPr>
          <p:cNvPr id="10" name="TextBox 9"/>
          <p:cNvSpPr txBox="1"/>
          <p:nvPr/>
        </p:nvSpPr>
        <p:spPr>
          <a:xfrm>
            <a:off x="6400800" y="2377440"/>
            <a:ext cx="5623560" cy="2743200"/>
          </a:xfrm>
          <a:prstGeom prst="rect">
            <a:avLst/>
          </a:prstGeom>
          <a:noFill/>
        </p:spPr>
        <p:txBody>
          <a:bodyPr wrap="square">
            <a:spAutoFit/>
          </a:bodyPr>
          <a:lstStyle/>
          <a:p>
            <a:pPr algn="l"/>
            <a:r>
              <a:rPr sz="1100" b="0" i="0">
                <a:solidFill>
                  <a:srgbClr val="F5F5F5"/>
                </a:solidFill>
                <a:latin typeface="Calibri"/>
              </a:rPr>
              <a:t>The G20 Common Framework deal converted a temporary commodity windfall into a permanent reduction in debt service obligations. PPG debt service fell from 12.5 % to 3 % of exports — freeing fiscal resources for productive investment.
GDP growth of 5.2–5.4 % persisted even as copper prices moderated, and FDI inflows hit a decade-high of 9.32 % of GDP — confirming that investors saw institutional, not just commodity, credibility.</a:t>
            </a:r>
          </a:p>
        </p:txBody>
      </p:sp>
      <p:sp>
        <p:nvSpPr>
          <p:cNvPr id="11" name="Rectangle 10"/>
          <p:cNvSpPr/>
          <p:nvPr/>
        </p:nvSpPr>
        <p:spPr>
          <a:xfrm>
            <a:off x="5989320" y="1828800"/>
            <a:ext cx="36576" cy="3291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5303520"/>
            <a:ext cx="11247120" cy="9601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5367528"/>
            <a:ext cx="1097280" cy="292608"/>
          </a:xfrm>
          <a:prstGeom prst="rect">
            <a:avLst/>
          </a:prstGeom>
          <a:noFill/>
        </p:spPr>
        <p:txBody>
          <a:bodyPr wrap="square">
            <a:spAutoFit/>
          </a:bodyPr>
          <a:lstStyle/>
          <a:p>
            <a:pPr algn="l"/>
            <a:r>
              <a:rPr sz="800" b="1" i="0">
                <a:solidFill>
                  <a:srgbClr val="E88C00"/>
                </a:solidFill>
                <a:latin typeface="Calibri"/>
              </a:rPr>
              <a:t>BIG IDEA</a:t>
            </a:r>
          </a:p>
        </p:txBody>
      </p:sp>
      <p:sp>
        <p:nvSpPr>
          <p:cNvPr id="14" name="TextBox 13"/>
          <p:cNvSpPr txBox="1"/>
          <p:nvPr/>
        </p:nvSpPr>
        <p:spPr>
          <a:xfrm>
            <a:off x="594360" y="5641848"/>
            <a:ext cx="10972800" cy="502920"/>
          </a:xfrm>
          <a:prstGeom prst="rect">
            <a:avLst/>
          </a:prstGeom>
          <a:noFill/>
        </p:spPr>
        <p:txBody>
          <a:bodyPr wrap="square">
            <a:spAutoFit/>
          </a:bodyPr>
          <a:lstStyle/>
          <a:p>
            <a:pPr algn="l"/>
            <a:r>
              <a:rPr sz="1300" b="1" i="1">
                <a:solidFill>
                  <a:srgbClr val="F5F5F5"/>
                </a:solidFill>
                <a:latin typeface="Calibri"/>
              </a:rPr>
              <a:t>Zambia's recovery proves that commodity luck and institutional reform are complements, not substitutes — copper created the window; the G20 deal made it a door.</a:t>
            </a:r>
          </a:p>
        </p:txBody>
      </p:sp>
      <p:sp>
        <p:nvSpPr>
          <p:cNvPr id="15" name="TextBox 14"/>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5486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28600"/>
            <a:ext cx="8229600" cy="365760"/>
          </a:xfrm>
          <a:prstGeom prst="rect">
            <a:avLst/>
          </a:prstGeom>
          <a:noFill/>
        </p:spPr>
        <p:txBody>
          <a:bodyPr wrap="square">
            <a:spAutoFit/>
          </a:bodyPr>
          <a:lstStyle/>
          <a:p>
            <a:pPr algn="l"/>
            <a:r>
              <a:rPr sz="900" b="1" i="0">
                <a:solidFill>
                  <a:srgbClr val="B0BEC5"/>
                </a:solidFill>
                <a:latin typeface="Calibri"/>
              </a:rPr>
              <a:t>APPENDIX  ·  3-MINUTE STORY &amp; BIG IDEA</a:t>
            </a:r>
          </a:p>
        </p:txBody>
      </p:sp>
      <p:sp>
        <p:nvSpPr>
          <p:cNvPr id="5" name="TextBox 4"/>
          <p:cNvSpPr txBox="1"/>
          <p:nvPr/>
        </p:nvSpPr>
        <p:spPr>
          <a:xfrm>
            <a:off x="457200" y="594360"/>
            <a:ext cx="10972800" cy="640080"/>
          </a:xfrm>
          <a:prstGeom prst="rect">
            <a:avLst/>
          </a:prstGeom>
          <a:noFill/>
        </p:spPr>
        <p:txBody>
          <a:bodyPr wrap="square">
            <a:spAutoFit/>
          </a:bodyPr>
          <a:lstStyle/>
          <a:p>
            <a:pPr algn="l"/>
            <a:r>
              <a:rPr sz="2000" b="1">
                <a:solidFill>
                  <a:srgbClr val="F5F5F5"/>
                </a:solidFill>
                <a:latin typeface="Calibri"/>
              </a:rPr>
              <a:t>Storytelling with Data — Written Narrative</a:t>
            </a:r>
          </a:p>
        </p:txBody>
      </p:sp>
      <p:sp>
        <p:nvSpPr>
          <p:cNvPr id="6" name="Rectangle 5"/>
          <p:cNvSpPr/>
          <p:nvPr/>
        </p:nvSpPr>
        <p:spPr>
          <a:xfrm>
            <a:off x="457200" y="1234440"/>
            <a:ext cx="11247120" cy="19050"/>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5669280" cy="4754880"/>
          </a:xfrm>
          <a:prstGeom prst="rect">
            <a:avLst/>
          </a:prstGeom>
          <a:noFill/>
        </p:spPr>
        <p:txBody>
          <a:bodyPr wrap="square">
            <a:spAutoFit/>
          </a:bodyPr>
          <a:lstStyle/>
          <a:p>
            <a:pPr algn="l"/>
            <a:r>
              <a:rPr sz="1050" b="0" i="0">
                <a:solidFill>
                  <a:srgbClr val="F5F5F5"/>
                </a:solidFill>
                <a:latin typeface="Calibri"/>
              </a:rPr>
              <a:t>Between 2015 and 2019, Zambia borrowed heavily against future copper revenues, tripling its external debt from $12.3 B to $29.1 B. When COVID-19 struck in 2020, revenues collapsed and Zambia became the first African sovereign pandemic-era default. The question we needed to answer: was the recovery that followed real — and sustainable?
In 2021, a global copper price supercycle delivered a fiscal windfall. The current account swung 15.5 percentage points — from a -3.6 % deficit to a +11.9 % surplus — before the restructuring deal had even been negotiated. Copper created the breathing room.
But breathing room is not the same as structural reform. In November 2023, Zambia finalised the G20 Common Framework deal, becoming the first country to complete the process. The results were clear: PPG debt service fell from 12.5 % to 3 % of exports; GDP growth held at 5.2–5.4 % even as copper prices cooled; and FDI inflows reached a decade-high 9.32 % of GDP in 2024.
The verdict: both were necessary. Commodity luck created the window. Institutional reform made it a door. Going forward, Zambia's challenge is to diversify beyond copper — into green energy, agriculture, and manufacturing — before the next commodity downcycle tests the depth of these institutional gains.</a:t>
            </a:r>
          </a:p>
        </p:txBody>
      </p:sp>
      <p:sp>
        <p:nvSpPr>
          <p:cNvPr id="8" name="Rectangle 7"/>
          <p:cNvSpPr/>
          <p:nvPr/>
        </p:nvSpPr>
        <p:spPr>
          <a:xfrm>
            <a:off x="6400800" y="1371600"/>
            <a:ext cx="5394960" cy="21945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463040"/>
            <a:ext cx="2743200" cy="320040"/>
          </a:xfrm>
          <a:prstGeom prst="rect">
            <a:avLst/>
          </a:prstGeom>
          <a:noFill/>
        </p:spPr>
        <p:txBody>
          <a:bodyPr wrap="square">
            <a:spAutoFit/>
          </a:bodyPr>
          <a:lstStyle/>
          <a:p>
            <a:pPr algn="l"/>
            <a:r>
              <a:rPr sz="900" b="1" i="0">
                <a:solidFill>
                  <a:srgbClr val="E88C00"/>
                </a:solidFill>
                <a:latin typeface="Calibri"/>
              </a:rPr>
              <a:t>BIG IDEA</a:t>
            </a:r>
          </a:p>
        </p:txBody>
      </p:sp>
      <p:sp>
        <p:nvSpPr>
          <p:cNvPr id="10" name="TextBox 9"/>
          <p:cNvSpPr txBox="1"/>
          <p:nvPr/>
        </p:nvSpPr>
        <p:spPr>
          <a:xfrm>
            <a:off x="6537960" y="1828800"/>
            <a:ext cx="5120640" cy="1600200"/>
          </a:xfrm>
          <a:prstGeom prst="rect">
            <a:avLst/>
          </a:prstGeom>
          <a:noFill/>
        </p:spPr>
        <p:txBody>
          <a:bodyPr wrap="square">
            <a:spAutoFit/>
          </a:bodyPr>
          <a:lstStyle/>
          <a:p>
            <a:pPr algn="l"/>
            <a:r>
              <a:rPr sz="1100" b="0" i="1">
                <a:solidFill>
                  <a:srgbClr val="F5F5F5"/>
                </a:solidFill>
                <a:latin typeface="Calibri"/>
              </a:rPr>
              <a:t>Zambia's G20 Common Framework debt restructuring converted a copper-driven fiscal windfall into a durable institutional framework — slashing PPG debt service from 12.5 % to 3 % of exports, sustaining 5 %+ GDP growth, and attracting record FDI of 9.32 % of GDP in 2024 — proving that commodity luck alone cannot anchor a recovery without credible institutional reform.</a:t>
            </a:r>
          </a:p>
        </p:txBody>
      </p:sp>
      <p:sp>
        <p:nvSpPr>
          <p:cNvPr id="11" name="TextBox 10"/>
          <p:cNvSpPr txBox="1"/>
          <p:nvPr/>
        </p:nvSpPr>
        <p:spPr>
          <a:xfrm>
            <a:off x="6537960" y="3703320"/>
            <a:ext cx="5120640" cy="320040"/>
          </a:xfrm>
          <a:prstGeom prst="rect">
            <a:avLst/>
          </a:prstGeom>
          <a:noFill/>
        </p:spPr>
        <p:txBody>
          <a:bodyPr wrap="square">
            <a:spAutoFit/>
          </a:bodyPr>
          <a:lstStyle/>
          <a:p>
            <a:pPr algn="l"/>
            <a:r>
              <a:rPr sz="1000" b="1" i="0">
                <a:solidFill>
                  <a:srgbClr val="2ECC71"/>
                </a:solidFill>
                <a:latin typeface="Calibri"/>
              </a:rPr>
              <a:t>✓  Unique point of view</a:t>
            </a:r>
          </a:p>
        </p:txBody>
      </p:sp>
      <p:sp>
        <p:nvSpPr>
          <p:cNvPr id="12" name="TextBox 11"/>
          <p:cNvSpPr txBox="1"/>
          <p:nvPr/>
        </p:nvSpPr>
        <p:spPr>
          <a:xfrm>
            <a:off x="6537960" y="4050792"/>
            <a:ext cx="5120640" cy="320040"/>
          </a:xfrm>
          <a:prstGeom prst="rect">
            <a:avLst/>
          </a:prstGeom>
          <a:noFill/>
        </p:spPr>
        <p:txBody>
          <a:bodyPr wrap="square">
            <a:spAutoFit/>
          </a:bodyPr>
          <a:lstStyle/>
          <a:p>
            <a:pPr algn="l"/>
            <a:r>
              <a:rPr sz="1000" b="1" i="0">
                <a:solidFill>
                  <a:srgbClr val="2ECC71"/>
                </a:solidFill>
                <a:latin typeface="Calibri"/>
              </a:rPr>
              <a:t>✓  Conveys what's at stake</a:t>
            </a:r>
          </a:p>
        </p:txBody>
      </p:sp>
      <p:sp>
        <p:nvSpPr>
          <p:cNvPr id="13" name="TextBox 12"/>
          <p:cNvSpPr txBox="1"/>
          <p:nvPr/>
        </p:nvSpPr>
        <p:spPr>
          <a:xfrm>
            <a:off x="6537960" y="4398264"/>
            <a:ext cx="5120640" cy="320040"/>
          </a:xfrm>
          <a:prstGeom prst="rect">
            <a:avLst/>
          </a:prstGeom>
          <a:noFill/>
        </p:spPr>
        <p:txBody>
          <a:bodyPr wrap="square">
            <a:spAutoFit/>
          </a:bodyPr>
          <a:lstStyle/>
          <a:p>
            <a:pPr algn="l"/>
            <a:r>
              <a:rPr sz="1000" b="1" i="0">
                <a:solidFill>
                  <a:srgbClr val="2ECC71"/>
                </a:solidFill>
                <a:latin typeface="Calibri"/>
              </a:rPr>
              <a:t>✓  Complete sentence</a:t>
            </a:r>
          </a:p>
        </p:txBody>
      </p:sp>
      <p:sp>
        <p:nvSpPr>
          <p:cNvPr id="14" name="TextBox 13"/>
          <p:cNvSpPr txBox="1"/>
          <p:nvPr/>
        </p:nvSpPr>
        <p:spPr>
          <a:xfrm>
            <a:off x="11430000" y="6309360"/>
            <a:ext cx="640080" cy="365760"/>
          </a:xfrm>
          <a:prstGeom prst="rect">
            <a:avLst/>
          </a:prstGeom>
          <a:noFill/>
        </p:spPr>
        <p:txBody>
          <a:bodyPr wrap="square">
            <a:spAutoFit/>
          </a:bodyPr>
          <a:lstStyle/>
          <a:p>
            <a:pPr algn="r"/>
            <a:r>
              <a:rPr sz="900" b="0" i="0">
                <a:solidFill>
                  <a:srgbClr val="B0BEC5"/>
                </a:solidFill>
                <a:latin typeface="Calibri"/>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